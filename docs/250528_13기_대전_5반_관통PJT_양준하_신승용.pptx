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Poppins" charset="1" panose="00000500000000000000"/>
      <p:regular r:id="rId25"/>
    </p:embeddedFont>
    <p:embeddedFont>
      <p:font typeface="Tlab 레트로라이프" charset="1" panose="02000600000000000000"/>
      <p:regular r:id="rId26"/>
    </p:embeddedFont>
    <p:embeddedFont>
      <p:font typeface="TDTD순고딕" charset="1" panose="02000603000000000000"/>
      <p:regular r:id="rId27"/>
    </p:embeddedFont>
    <p:embeddedFont>
      <p:font typeface="Tlab 레트로라이프 Bold" charset="1" panose="02000800000000000000"/>
      <p:regular r:id="rId28"/>
    </p:embeddedFont>
    <p:embeddedFont>
      <p:font typeface="Nanum Square Bold" charset="1" panose="020B0600000101010101"/>
      <p:regular r:id="rId29"/>
    </p:embeddedFont>
    <p:embeddedFont>
      <p:font typeface="TDTD순고딕 Bold" charset="1" panose="02000803000000000000"/>
      <p:regular r:id="rId30"/>
    </p:embeddedFont>
    <p:embeddedFont>
      <p:font typeface="TDTD한강고딕" charset="1" panose="02000503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https://youtu.be/rU2IsWKw2qw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238023" y="2628718"/>
            <a:ext cx="1338162" cy="1338162"/>
          </a:xfrm>
          <a:custGeom>
            <a:avLst/>
            <a:gdLst/>
            <a:ahLst/>
            <a:cxnLst/>
            <a:rect r="r" b="b" t="t" l="l"/>
            <a:pathLst>
              <a:path h="1338162" w="1338162">
                <a:moveTo>
                  <a:pt x="0" y="0"/>
                </a:moveTo>
                <a:lnTo>
                  <a:pt x="1338162" y="0"/>
                </a:lnTo>
                <a:lnTo>
                  <a:pt x="1338162" y="1338162"/>
                </a:lnTo>
                <a:lnTo>
                  <a:pt x="0" y="1338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1031875"/>
            <a:ext cx="297537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42">
                <a:solidFill>
                  <a:srgbClr val="485849"/>
                </a:solidFill>
                <a:latin typeface="Poppins"/>
                <a:ea typeface="Poppins"/>
                <a:cs typeface="Poppins"/>
                <a:sym typeface="Poppins"/>
              </a:rPr>
              <a:t>TEAM PROJECT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12633" y="5617685"/>
            <a:ext cx="926273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spc="-58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FINAL관통 프로젝트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33362" y="3668060"/>
            <a:ext cx="9821277" cy="200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40"/>
              </a:lnSpc>
            </a:pPr>
            <a:r>
              <a:rPr lang="en-US" sz="11743">
                <a:solidFill>
                  <a:srgbClr val="8CB791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Travel Quest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039145" y="8850757"/>
            <a:ext cx="2842313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42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SSAFY 대전 5반 10팀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6181596" y="4413888"/>
            <a:ext cx="818710" cy="703579"/>
            <a:chOff x="0" y="0"/>
            <a:chExt cx="812800" cy="698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914742" y="4413888"/>
            <a:ext cx="818710" cy="703579"/>
            <a:chOff x="0" y="0"/>
            <a:chExt cx="812800" cy="698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05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181596" y="5550705"/>
            <a:ext cx="818710" cy="703579"/>
            <a:chOff x="0" y="0"/>
            <a:chExt cx="812800" cy="698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914742" y="5550705"/>
            <a:ext cx="818710" cy="703579"/>
            <a:chOff x="0" y="0"/>
            <a:chExt cx="812800" cy="698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06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181596" y="6683740"/>
            <a:ext cx="818710" cy="703579"/>
            <a:chOff x="0" y="0"/>
            <a:chExt cx="812800" cy="698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914742" y="6683740"/>
            <a:ext cx="818710" cy="703579"/>
            <a:chOff x="0" y="0"/>
            <a:chExt cx="812800" cy="698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07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181596" y="7816775"/>
            <a:ext cx="818710" cy="703579"/>
            <a:chOff x="0" y="0"/>
            <a:chExt cx="812800" cy="698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04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017519" y="1749808"/>
            <a:ext cx="3481325" cy="1427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9"/>
              </a:lnSpc>
            </a:pPr>
            <a:r>
              <a:rPr lang="en-US" sz="8306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목차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21962" y="4509122"/>
            <a:ext cx="3870726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프로젝트 개요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952527" y="4509122"/>
            <a:ext cx="3870726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개발 결과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221962" y="5645938"/>
            <a:ext cx="3870726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팀 구성원 소개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221962" y="6778175"/>
            <a:ext cx="3870726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프로젝트 진행일정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221962" y="7910412"/>
            <a:ext cx="3870726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시장 분석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952527" y="5645938"/>
            <a:ext cx="3799314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기대 효과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952527" y="6778175"/>
            <a:ext cx="3799314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개발 후기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2281366" y="3623215"/>
            <a:ext cx="6642252" cy="5000345"/>
            <a:chOff x="0" y="0"/>
            <a:chExt cx="1813523" cy="13652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13523" cy="1365236"/>
            </a:xfrm>
            <a:custGeom>
              <a:avLst/>
              <a:gdLst/>
              <a:ahLst/>
              <a:cxnLst/>
              <a:rect r="r" b="b" t="t" l="l"/>
              <a:pathLst>
                <a:path h="1365236" w="1813523">
                  <a:moveTo>
                    <a:pt x="116556" y="0"/>
                  </a:moveTo>
                  <a:lnTo>
                    <a:pt x="1696967" y="0"/>
                  </a:lnTo>
                  <a:cubicBezTo>
                    <a:pt x="1727879" y="0"/>
                    <a:pt x="1757526" y="12280"/>
                    <a:pt x="1779384" y="34138"/>
                  </a:cubicBezTo>
                  <a:cubicBezTo>
                    <a:pt x="1801243" y="55997"/>
                    <a:pt x="1813523" y="85643"/>
                    <a:pt x="1813523" y="116556"/>
                  </a:cubicBezTo>
                  <a:lnTo>
                    <a:pt x="1813523" y="1248680"/>
                  </a:lnTo>
                  <a:cubicBezTo>
                    <a:pt x="1813523" y="1313052"/>
                    <a:pt x="1761339" y="1365236"/>
                    <a:pt x="1696967" y="1365236"/>
                  </a:cubicBezTo>
                  <a:lnTo>
                    <a:pt x="116556" y="1365236"/>
                  </a:lnTo>
                  <a:cubicBezTo>
                    <a:pt x="52184" y="1365236"/>
                    <a:pt x="0" y="1313052"/>
                    <a:pt x="0" y="1248680"/>
                  </a:cubicBezTo>
                  <a:lnTo>
                    <a:pt x="0" y="116556"/>
                  </a:lnTo>
                  <a:cubicBezTo>
                    <a:pt x="0" y="52184"/>
                    <a:pt x="52184" y="0"/>
                    <a:pt x="116556" y="0"/>
                  </a:cubicBezTo>
                  <a:close/>
                </a:path>
              </a:pathLst>
            </a:custGeom>
            <a:solidFill>
              <a:srgbClr val="E3F0E5">
                <a:alpha val="30980"/>
              </a:srgbClr>
            </a:solidFill>
            <a:ln w="19050" cap="rnd">
              <a:solidFill>
                <a:srgbClr val="3E4047">
                  <a:alpha val="30980"/>
                </a:srgbClr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813523" cy="1431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87845" y="3623215"/>
            <a:ext cx="6618789" cy="5000345"/>
            <a:chOff x="0" y="0"/>
            <a:chExt cx="1807117" cy="13652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07117" cy="1365236"/>
            </a:xfrm>
            <a:custGeom>
              <a:avLst/>
              <a:gdLst/>
              <a:ahLst/>
              <a:cxnLst/>
              <a:rect r="r" b="b" t="t" l="l"/>
              <a:pathLst>
                <a:path h="1365236" w="1807117">
                  <a:moveTo>
                    <a:pt x="116969" y="0"/>
                  </a:moveTo>
                  <a:lnTo>
                    <a:pt x="1690148" y="0"/>
                  </a:lnTo>
                  <a:cubicBezTo>
                    <a:pt x="1721170" y="0"/>
                    <a:pt x="1750921" y="12323"/>
                    <a:pt x="1772857" y="34259"/>
                  </a:cubicBezTo>
                  <a:cubicBezTo>
                    <a:pt x="1794793" y="56195"/>
                    <a:pt x="1807117" y="85947"/>
                    <a:pt x="1807117" y="116969"/>
                  </a:cubicBezTo>
                  <a:lnTo>
                    <a:pt x="1807117" y="1248267"/>
                  </a:lnTo>
                  <a:cubicBezTo>
                    <a:pt x="1807117" y="1312867"/>
                    <a:pt x="1754748" y="1365236"/>
                    <a:pt x="1690148" y="1365236"/>
                  </a:cubicBezTo>
                  <a:lnTo>
                    <a:pt x="116969" y="1365236"/>
                  </a:lnTo>
                  <a:cubicBezTo>
                    <a:pt x="52369" y="1365236"/>
                    <a:pt x="0" y="1312867"/>
                    <a:pt x="0" y="1248267"/>
                  </a:cubicBezTo>
                  <a:lnTo>
                    <a:pt x="0" y="116969"/>
                  </a:lnTo>
                  <a:cubicBezTo>
                    <a:pt x="0" y="52369"/>
                    <a:pt x="52369" y="0"/>
                    <a:pt x="116969" y="0"/>
                  </a:cubicBezTo>
                  <a:close/>
                </a:path>
              </a:pathLst>
            </a:custGeom>
            <a:solidFill>
              <a:srgbClr val="E3F0E5">
                <a:alpha val="49804"/>
              </a:srgbClr>
            </a:solidFill>
            <a:ln w="19050" cap="rnd">
              <a:solidFill>
                <a:srgbClr val="485849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807117" cy="1431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2305200" y="4714485"/>
            <a:ext cx="6618417" cy="16199"/>
          </a:xfrm>
          <a:prstGeom prst="line">
            <a:avLst/>
          </a:prstGeom>
          <a:ln cap="flat" w="19050">
            <a:solidFill>
              <a:srgbClr val="485849">
                <a:alpha val="6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9387845" y="4724010"/>
            <a:ext cx="6618789" cy="0"/>
          </a:xfrm>
          <a:prstGeom prst="line">
            <a:avLst/>
          </a:prstGeom>
          <a:ln cap="flat" w="19050">
            <a:solidFill>
              <a:srgbClr val="485849">
                <a:alpha val="6588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3870789" y="1401775"/>
            <a:ext cx="611027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프로젝트 개요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600022" y="4883083"/>
            <a:ext cx="6033717" cy="3242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‘혼행’ 트렌드 확산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2030 Z세대 중심으로 혼자 여행을 떠나는 이들이 늘어나며, 심리적·실무적 준비 부담 증가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기존 여행 앱의 한계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트리플·마이리얼트립 등은 ‘계획·예약’ 중심, 동행 매칭·실시간 협업 기능 부재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맞춤형 동행 수요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일정·장소·성향을 종합한 최적의 동행 매칭과 사전 커뮤니케이션 필요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72206" y="4902133"/>
            <a:ext cx="6147686" cy="302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17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목적</a:t>
            </a:r>
          </a:p>
          <a:p>
            <a:pPr algn="l" marL="345439" indent="-172720" lvl="1">
              <a:lnSpc>
                <a:spcPts val="2399"/>
              </a:lnSpc>
              <a:buFont typeface="Arial"/>
              <a:buChar char="•"/>
            </a:pPr>
            <a:r>
              <a:rPr lang="en-US" sz="15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여행(던전)을 </a:t>
            </a:r>
            <a:r>
              <a:rPr lang="en-US" sz="15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기반으로 최적의 동행(파티)을 매칭하고, 실시간 협업을 통해 준비 과정을 원스톱으로 지원하자!</a:t>
            </a:r>
          </a:p>
          <a:p>
            <a:pPr algn="l">
              <a:lnSpc>
                <a:spcPts val="2699"/>
              </a:lnSpc>
            </a:pPr>
            <a:r>
              <a:rPr lang="en-US" sz="17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목표</a:t>
            </a:r>
          </a:p>
          <a:p>
            <a:pPr algn="l" marL="345439" indent="-172720" lvl="1">
              <a:lnSpc>
                <a:spcPts val="2399"/>
              </a:lnSpc>
              <a:buFont typeface="Arial"/>
              <a:buChar char="•"/>
            </a:pPr>
            <a:r>
              <a:rPr lang="en-US" sz="15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일정·장소·MBTI 매칭 알고리즘 구현</a:t>
            </a:r>
          </a:p>
          <a:p>
            <a:pPr algn="l" marL="690879" indent="-230293" lvl="2">
              <a:lnSpc>
                <a:spcPts val="2399"/>
              </a:lnSpc>
              <a:buFont typeface="Arial"/>
              <a:buChar char="⚬"/>
            </a:pPr>
            <a:r>
              <a:rPr lang="en-US" sz="15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복잡한 여행계획 없이 유저의 성향에 따라 매칭 유도</a:t>
            </a:r>
          </a:p>
          <a:p>
            <a:pPr algn="l" marL="345439" indent="-172720" lvl="1">
              <a:lnSpc>
                <a:spcPts val="2399"/>
              </a:lnSpc>
              <a:buFont typeface="Arial"/>
              <a:buChar char="•"/>
            </a:pPr>
            <a:r>
              <a:rPr lang="en-US" sz="15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WebSocket 기반 실시간 채팅 &amp; 일정 에디터</a:t>
            </a:r>
          </a:p>
          <a:p>
            <a:pPr algn="l" marL="690879" indent="-230293" lvl="2">
              <a:lnSpc>
                <a:spcPts val="2399"/>
              </a:lnSpc>
              <a:buFont typeface="Arial"/>
              <a:buChar char="⚬"/>
            </a:pPr>
            <a:r>
              <a:rPr lang="en-US" sz="15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채팅창과 일정 뷰를 동시에 제공하여 파티원 간 효율적 협업 실현</a:t>
            </a:r>
          </a:p>
          <a:p>
            <a:pPr algn="l" marL="345439" indent="-172720" lvl="1">
              <a:lnSpc>
                <a:spcPts val="2399"/>
              </a:lnSpc>
              <a:buFont typeface="Arial"/>
              <a:buChar char="•"/>
            </a:pPr>
            <a:r>
              <a:rPr lang="en-US" sz="15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여행 정보 통합 관리</a:t>
            </a:r>
          </a:p>
          <a:p>
            <a:pPr algn="l" marL="690879" indent="-230293" lvl="2">
              <a:lnSpc>
                <a:spcPts val="2399"/>
              </a:lnSpc>
              <a:buFont typeface="Arial"/>
              <a:buChar char="⚬"/>
            </a:pPr>
            <a:r>
              <a:rPr lang="en-US" sz="15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숙소·교통편 링크 저장, 미션 인증기능으로 여행 전반 흐름 기록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179564" y="3959301"/>
            <a:ext cx="490593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프로젝트 기획 배경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44274" y="3959301"/>
            <a:ext cx="490593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프로젝트의 목적 및 목표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6003794" y="6469745"/>
            <a:ext cx="2500510" cy="682037"/>
            <a:chOff x="0" y="0"/>
            <a:chExt cx="610674" cy="1665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0674" cy="166567"/>
            </a:xfrm>
            <a:custGeom>
              <a:avLst/>
              <a:gdLst/>
              <a:ahLst/>
              <a:cxnLst/>
              <a:rect r="r" b="b" t="t" l="l"/>
              <a:pathLst>
                <a:path h="166567" w="610674">
                  <a:moveTo>
                    <a:pt x="40250" y="0"/>
                  </a:moveTo>
                  <a:lnTo>
                    <a:pt x="570424" y="0"/>
                  </a:lnTo>
                  <a:cubicBezTo>
                    <a:pt x="581099" y="0"/>
                    <a:pt x="591337" y="4241"/>
                    <a:pt x="598885" y="11789"/>
                  </a:cubicBezTo>
                  <a:cubicBezTo>
                    <a:pt x="606433" y="19337"/>
                    <a:pt x="610674" y="29575"/>
                    <a:pt x="610674" y="40250"/>
                  </a:cubicBezTo>
                  <a:lnTo>
                    <a:pt x="610674" y="126317"/>
                  </a:lnTo>
                  <a:cubicBezTo>
                    <a:pt x="610674" y="136992"/>
                    <a:pt x="606433" y="147230"/>
                    <a:pt x="598885" y="154778"/>
                  </a:cubicBezTo>
                  <a:cubicBezTo>
                    <a:pt x="591337" y="162326"/>
                    <a:pt x="581099" y="166567"/>
                    <a:pt x="570424" y="166567"/>
                  </a:cubicBezTo>
                  <a:lnTo>
                    <a:pt x="40250" y="166567"/>
                  </a:lnTo>
                  <a:cubicBezTo>
                    <a:pt x="29575" y="166567"/>
                    <a:pt x="19337" y="162326"/>
                    <a:pt x="11789" y="154778"/>
                  </a:cubicBezTo>
                  <a:cubicBezTo>
                    <a:pt x="4241" y="147230"/>
                    <a:pt x="0" y="136992"/>
                    <a:pt x="0" y="126317"/>
                  </a:cubicBezTo>
                  <a:lnTo>
                    <a:pt x="0" y="40250"/>
                  </a:lnTo>
                  <a:cubicBezTo>
                    <a:pt x="0" y="29575"/>
                    <a:pt x="4241" y="19337"/>
                    <a:pt x="11789" y="11789"/>
                  </a:cubicBezTo>
                  <a:cubicBezTo>
                    <a:pt x="19337" y="4241"/>
                    <a:pt x="29575" y="0"/>
                    <a:pt x="40250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610674" cy="223717"/>
            </a:xfrm>
            <a:prstGeom prst="rect">
              <a:avLst/>
            </a:prstGeom>
          </p:spPr>
          <p:txBody>
            <a:bodyPr anchor="ctr" rtlCol="false" tIns="48088" lIns="48088" bIns="48088" rIns="48088"/>
            <a:lstStyle/>
            <a:p>
              <a:pPr algn="ctr">
                <a:lnSpc>
                  <a:spcPts val="4059"/>
                </a:lnSpc>
              </a:pPr>
              <a:r>
                <a:rPr lang="en-US" sz="28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양준하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003794" y="3656991"/>
            <a:ext cx="2486939" cy="248693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19050" cap="sq">
              <a:solidFill>
                <a:srgbClr val="48584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775963" y="6469745"/>
            <a:ext cx="2500510" cy="682037"/>
            <a:chOff x="0" y="0"/>
            <a:chExt cx="610674" cy="1665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0674" cy="166567"/>
            </a:xfrm>
            <a:custGeom>
              <a:avLst/>
              <a:gdLst/>
              <a:ahLst/>
              <a:cxnLst/>
              <a:rect r="r" b="b" t="t" l="l"/>
              <a:pathLst>
                <a:path h="166567" w="610674">
                  <a:moveTo>
                    <a:pt x="40250" y="0"/>
                  </a:moveTo>
                  <a:lnTo>
                    <a:pt x="570424" y="0"/>
                  </a:lnTo>
                  <a:cubicBezTo>
                    <a:pt x="581099" y="0"/>
                    <a:pt x="591337" y="4241"/>
                    <a:pt x="598885" y="11789"/>
                  </a:cubicBezTo>
                  <a:cubicBezTo>
                    <a:pt x="606433" y="19337"/>
                    <a:pt x="610674" y="29575"/>
                    <a:pt x="610674" y="40250"/>
                  </a:cubicBezTo>
                  <a:lnTo>
                    <a:pt x="610674" y="126317"/>
                  </a:lnTo>
                  <a:cubicBezTo>
                    <a:pt x="610674" y="136992"/>
                    <a:pt x="606433" y="147230"/>
                    <a:pt x="598885" y="154778"/>
                  </a:cubicBezTo>
                  <a:cubicBezTo>
                    <a:pt x="591337" y="162326"/>
                    <a:pt x="581099" y="166567"/>
                    <a:pt x="570424" y="166567"/>
                  </a:cubicBezTo>
                  <a:lnTo>
                    <a:pt x="40250" y="166567"/>
                  </a:lnTo>
                  <a:cubicBezTo>
                    <a:pt x="29575" y="166567"/>
                    <a:pt x="19337" y="162326"/>
                    <a:pt x="11789" y="154778"/>
                  </a:cubicBezTo>
                  <a:cubicBezTo>
                    <a:pt x="4241" y="147230"/>
                    <a:pt x="0" y="136992"/>
                    <a:pt x="0" y="126317"/>
                  </a:cubicBezTo>
                  <a:lnTo>
                    <a:pt x="0" y="40250"/>
                  </a:lnTo>
                  <a:cubicBezTo>
                    <a:pt x="0" y="29575"/>
                    <a:pt x="4241" y="19337"/>
                    <a:pt x="11789" y="11789"/>
                  </a:cubicBezTo>
                  <a:cubicBezTo>
                    <a:pt x="19337" y="4241"/>
                    <a:pt x="29575" y="0"/>
                    <a:pt x="40250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10674" cy="223717"/>
            </a:xfrm>
            <a:prstGeom prst="rect">
              <a:avLst/>
            </a:prstGeom>
          </p:spPr>
          <p:txBody>
            <a:bodyPr anchor="ctr" rtlCol="false" tIns="48088" lIns="48088" bIns="48088" rIns="48088"/>
            <a:lstStyle/>
            <a:p>
              <a:pPr algn="ctr">
                <a:lnSpc>
                  <a:spcPts val="4059"/>
                </a:lnSpc>
              </a:pPr>
              <a:r>
                <a:rPr lang="en-US" sz="28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신승용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84986" y="3656991"/>
            <a:ext cx="2486939" cy="2486939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  <a:ln w="19050" cap="sq">
              <a:solidFill>
                <a:srgbClr val="485849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4041627" y="1388861"/>
            <a:ext cx="503631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팀원 소개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628829" y="7425881"/>
            <a:ext cx="3298713" cy="406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8"/>
              </a:lnSpc>
            </a:pPr>
            <a:r>
              <a:rPr lang="en-US" sz="237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던전, Spring AI, 퀘스트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279268" y="8072431"/>
            <a:ext cx="3997835" cy="687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sz="196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Spring Scheduler 기반 던전 생성</a:t>
            </a:r>
          </a:p>
          <a:p>
            <a:pPr algn="ctr">
              <a:lnSpc>
                <a:spcPts val="2745"/>
              </a:lnSpc>
            </a:pPr>
            <a:r>
              <a:rPr lang="en-US" sz="196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Spring AI를 통한 퀘스트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77300" y="7428007"/>
            <a:ext cx="2873476" cy="40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3"/>
              </a:lnSpc>
            </a:pPr>
            <a:r>
              <a:rPr lang="en-US" sz="2366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인증·인가, 채팅, 파티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64641" y="8011666"/>
            <a:ext cx="3698792" cy="687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sz="196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OAuth+OIDC 인증</a:t>
            </a:r>
          </a:p>
          <a:p>
            <a:pPr algn="ctr">
              <a:lnSpc>
                <a:spcPts val="2745"/>
              </a:lnSpc>
            </a:pPr>
            <a:r>
              <a:rPr lang="en-US" sz="196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Web Socket + STOMP 기반 채팅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041627" y="1388861"/>
            <a:ext cx="7898846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프로젝트 진행 일정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03</a:t>
            </a:r>
          </a:p>
        </p:txBody>
      </p:sp>
      <p:sp>
        <p:nvSpPr>
          <p:cNvPr name="AutoShape 21" id="21"/>
          <p:cNvSpPr/>
          <p:nvPr/>
        </p:nvSpPr>
        <p:spPr>
          <a:xfrm>
            <a:off x="980630" y="3841135"/>
            <a:ext cx="16278670" cy="0"/>
          </a:xfrm>
          <a:prstGeom prst="line">
            <a:avLst/>
          </a:prstGeom>
          <a:ln cap="flat" w="19050">
            <a:solidFill>
              <a:srgbClr val="48584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3485113" y="3399720"/>
            <a:ext cx="1005073" cy="863735"/>
            <a:chOff x="0" y="0"/>
            <a:chExt cx="812800" cy="698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85B38B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AFFFA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1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V="true">
            <a:off x="3987650" y="4263455"/>
            <a:ext cx="0" cy="1221211"/>
          </a:xfrm>
          <a:prstGeom prst="line">
            <a:avLst/>
          </a:prstGeom>
          <a:ln cap="flat" w="28575">
            <a:solidFill>
              <a:srgbClr val="485849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2424919" y="4816457"/>
            <a:ext cx="2903178" cy="1701143"/>
            <a:chOff x="0" y="0"/>
            <a:chExt cx="762847" cy="44699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2847" cy="446997"/>
            </a:xfrm>
            <a:custGeom>
              <a:avLst/>
              <a:gdLst/>
              <a:ahLst/>
              <a:cxnLst/>
              <a:rect r="r" b="b" t="t" l="l"/>
              <a:pathLst>
                <a:path h="446997" w="762847">
                  <a:moveTo>
                    <a:pt x="32000" y="0"/>
                  </a:moveTo>
                  <a:lnTo>
                    <a:pt x="730847" y="0"/>
                  </a:lnTo>
                  <a:cubicBezTo>
                    <a:pt x="739334" y="0"/>
                    <a:pt x="747474" y="3371"/>
                    <a:pt x="753475" y="9373"/>
                  </a:cubicBezTo>
                  <a:cubicBezTo>
                    <a:pt x="759476" y="15374"/>
                    <a:pt x="762847" y="23513"/>
                    <a:pt x="762847" y="32000"/>
                  </a:cubicBezTo>
                  <a:lnTo>
                    <a:pt x="762847" y="414997"/>
                  </a:lnTo>
                  <a:cubicBezTo>
                    <a:pt x="762847" y="432670"/>
                    <a:pt x="748520" y="446997"/>
                    <a:pt x="730847" y="446997"/>
                  </a:cubicBezTo>
                  <a:lnTo>
                    <a:pt x="32000" y="446997"/>
                  </a:lnTo>
                  <a:cubicBezTo>
                    <a:pt x="23513" y="446997"/>
                    <a:pt x="15374" y="443626"/>
                    <a:pt x="9373" y="437625"/>
                  </a:cubicBezTo>
                  <a:cubicBezTo>
                    <a:pt x="3371" y="431623"/>
                    <a:pt x="0" y="423484"/>
                    <a:pt x="0" y="414997"/>
                  </a:cubicBezTo>
                  <a:lnTo>
                    <a:pt x="0" y="32000"/>
                  </a:lnTo>
                  <a:cubicBezTo>
                    <a:pt x="0" y="23513"/>
                    <a:pt x="3371" y="15374"/>
                    <a:pt x="9373" y="9373"/>
                  </a:cubicBezTo>
                  <a:cubicBezTo>
                    <a:pt x="15374" y="3371"/>
                    <a:pt x="23513" y="0"/>
                    <a:pt x="32000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62847" cy="50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기획 및 시장조사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985977" y="3399720"/>
            <a:ext cx="1005073" cy="863735"/>
            <a:chOff x="0" y="0"/>
            <a:chExt cx="812800" cy="698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A9B87D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A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2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flipV="true">
            <a:off x="7524518" y="4263455"/>
            <a:ext cx="0" cy="1221211"/>
          </a:xfrm>
          <a:prstGeom prst="line">
            <a:avLst/>
          </a:prstGeom>
          <a:ln cap="flat" w="28575">
            <a:solidFill>
              <a:srgbClr val="485849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6011712" y="4816457"/>
            <a:ext cx="2900030" cy="1701143"/>
            <a:chOff x="0" y="0"/>
            <a:chExt cx="762020" cy="44699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62020" cy="446997"/>
            </a:xfrm>
            <a:custGeom>
              <a:avLst/>
              <a:gdLst/>
              <a:ahLst/>
              <a:cxnLst/>
              <a:rect r="r" b="b" t="t" l="l"/>
              <a:pathLst>
                <a:path h="446997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14962"/>
                  </a:lnTo>
                  <a:cubicBezTo>
                    <a:pt x="762020" y="432655"/>
                    <a:pt x="747678" y="446997"/>
                    <a:pt x="729985" y="446997"/>
                  </a:cubicBezTo>
                  <a:lnTo>
                    <a:pt x="32035" y="446997"/>
                  </a:lnTo>
                  <a:cubicBezTo>
                    <a:pt x="14343" y="446997"/>
                    <a:pt x="0" y="432655"/>
                    <a:pt x="0" y="414962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762020" cy="49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ERD 및 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시스템 아키텍처 설계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flipV="true">
            <a:off x="11015046" y="4205852"/>
            <a:ext cx="0" cy="1221211"/>
          </a:xfrm>
          <a:prstGeom prst="line">
            <a:avLst/>
          </a:prstGeom>
          <a:ln cap="flat" w="28575">
            <a:solidFill>
              <a:srgbClr val="485849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10486600" y="3399720"/>
            <a:ext cx="1005073" cy="863735"/>
            <a:chOff x="0" y="0"/>
            <a:chExt cx="812800" cy="698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85B38B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A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548580" y="4816457"/>
            <a:ext cx="2900030" cy="1701143"/>
            <a:chOff x="0" y="0"/>
            <a:chExt cx="762020" cy="44699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2020" cy="446997"/>
            </a:xfrm>
            <a:custGeom>
              <a:avLst/>
              <a:gdLst/>
              <a:ahLst/>
              <a:cxnLst/>
              <a:rect r="r" b="b" t="t" l="l"/>
              <a:pathLst>
                <a:path h="446997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14962"/>
                  </a:lnTo>
                  <a:cubicBezTo>
                    <a:pt x="762020" y="432655"/>
                    <a:pt x="747678" y="446997"/>
                    <a:pt x="729985" y="446997"/>
                  </a:cubicBezTo>
                  <a:lnTo>
                    <a:pt x="32035" y="446997"/>
                  </a:lnTo>
                  <a:cubicBezTo>
                    <a:pt x="14343" y="446997"/>
                    <a:pt x="0" y="432655"/>
                    <a:pt x="0" y="414962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762020" cy="49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개발 및 버그 수정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038590" y="3399720"/>
            <a:ext cx="1005073" cy="863735"/>
            <a:chOff x="0" y="0"/>
            <a:chExt cx="812800" cy="6985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A9B87D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A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4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flipV="true">
            <a:off x="14541127" y="4263455"/>
            <a:ext cx="0" cy="1221211"/>
          </a:xfrm>
          <a:prstGeom prst="line">
            <a:avLst/>
          </a:prstGeom>
          <a:ln cap="flat" w="28575">
            <a:solidFill>
              <a:srgbClr val="485849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3088949" y="4816457"/>
            <a:ext cx="2900030" cy="1701143"/>
            <a:chOff x="0" y="0"/>
            <a:chExt cx="762020" cy="44699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2020" cy="446997"/>
            </a:xfrm>
            <a:custGeom>
              <a:avLst/>
              <a:gdLst/>
              <a:ahLst/>
              <a:cxnLst/>
              <a:rect r="r" b="b" t="t" l="l"/>
              <a:pathLst>
                <a:path h="446997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14962"/>
                  </a:lnTo>
                  <a:cubicBezTo>
                    <a:pt x="762020" y="432655"/>
                    <a:pt x="747678" y="446997"/>
                    <a:pt x="729985" y="446997"/>
                  </a:cubicBezTo>
                  <a:lnTo>
                    <a:pt x="32035" y="446997"/>
                  </a:lnTo>
                  <a:cubicBezTo>
                    <a:pt x="14343" y="446997"/>
                    <a:pt x="0" y="432655"/>
                    <a:pt x="0" y="414962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762020" cy="494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문서 작성 및 발표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068369" y="3507927"/>
            <a:ext cx="5267041" cy="4818834"/>
            <a:chOff x="0" y="0"/>
            <a:chExt cx="7022722" cy="6425112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7022722" cy="6425112"/>
              <a:chOff x="0" y="0"/>
              <a:chExt cx="2091879" cy="191386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091879" cy="1913867"/>
              </a:xfrm>
              <a:custGeom>
                <a:avLst/>
                <a:gdLst/>
                <a:ahLst/>
                <a:cxnLst/>
                <a:rect r="r" b="b" t="t" l="l"/>
                <a:pathLst>
                  <a:path h="1913867" w="2091879">
                    <a:moveTo>
                      <a:pt x="29398" y="0"/>
                    </a:moveTo>
                    <a:lnTo>
                      <a:pt x="2062482" y="0"/>
                    </a:lnTo>
                    <a:cubicBezTo>
                      <a:pt x="2070278" y="0"/>
                      <a:pt x="2077756" y="3097"/>
                      <a:pt x="2083269" y="8610"/>
                    </a:cubicBezTo>
                    <a:cubicBezTo>
                      <a:pt x="2088782" y="14123"/>
                      <a:pt x="2091879" y="21601"/>
                      <a:pt x="2091879" y="29398"/>
                    </a:cubicBezTo>
                    <a:lnTo>
                      <a:pt x="2091879" y="1884470"/>
                    </a:lnTo>
                    <a:cubicBezTo>
                      <a:pt x="2091879" y="1900706"/>
                      <a:pt x="2078717" y="1913867"/>
                      <a:pt x="2062482" y="1913867"/>
                    </a:cubicBezTo>
                    <a:lnTo>
                      <a:pt x="29398" y="1913867"/>
                    </a:lnTo>
                    <a:cubicBezTo>
                      <a:pt x="13162" y="1913867"/>
                      <a:pt x="0" y="1900706"/>
                      <a:pt x="0" y="1884470"/>
                    </a:cubicBezTo>
                    <a:lnTo>
                      <a:pt x="0" y="29398"/>
                    </a:lnTo>
                    <a:cubicBezTo>
                      <a:pt x="0" y="13162"/>
                      <a:pt x="13162" y="0"/>
                      <a:pt x="293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091879" cy="19519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36596" y="1151169"/>
              <a:ext cx="6349530" cy="4866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645"/>
                </a:lnSpc>
              </a:pPr>
              <a:r>
                <a:rPr lang="en-US" sz="1763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MZ세대(20~39세) 여행객 비중 확대</a:t>
              </a:r>
            </a:p>
            <a:p>
              <a:pPr algn="just" marL="380820" indent="-190410" lvl="1">
                <a:lnSpc>
                  <a:spcPts val="2645"/>
                </a:lnSpc>
                <a:buFont typeface="Arial"/>
                <a:buChar char="•"/>
              </a:pPr>
              <a:r>
                <a:rPr lang="en-US" sz="1763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전체 자유 여행객 중 약 50% 차지</a:t>
              </a:r>
            </a:p>
            <a:p>
              <a:pPr algn="just" marL="380820" indent="-190410" lvl="1">
                <a:lnSpc>
                  <a:spcPts val="2645"/>
                </a:lnSpc>
                <a:buFont typeface="Arial"/>
                <a:buChar char="•"/>
              </a:pPr>
              <a:r>
                <a:rPr lang="en-US" sz="1763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1인당</a:t>
              </a:r>
              <a:r>
                <a:rPr lang="en-US" sz="1763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 평균 여행 소비액 연 200만원 이상</a:t>
              </a:r>
            </a:p>
            <a:p>
              <a:pPr algn="just">
                <a:lnSpc>
                  <a:spcPts val="2645"/>
                </a:lnSpc>
              </a:pPr>
              <a:r>
                <a:rPr lang="en-US" sz="1763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      </a:t>
              </a:r>
              <a:r>
                <a:rPr lang="en-US" sz="1763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모바일 중심 예약·소통 채널 사용</a:t>
              </a:r>
            </a:p>
            <a:p>
              <a:pPr algn="just" marL="380820" indent="-190410" lvl="1">
                <a:lnSpc>
                  <a:spcPts val="2645"/>
                </a:lnSpc>
                <a:buFont typeface="Arial"/>
                <a:buChar char="•"/>
              </a:pPr>
              <a:r>
                <a:rPr lang="en-US" sz="1763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2030 세대의 90% 이상이 모바일 앱으로 정보 탐색 및 예약</a:t>
              </a:r>
            </a:p>
            <a:p>
              <a:pPr algn="just" marL="380820" indent="-190410" lvl="1">
                <a:lnSpc>
                  <a:spcPts val="2645"/>
                </a:lnSpc>
                <a:buFont typeface="Arial"/>
                <a:buChar char="•"/>
              </a:pPr>
              <a:r>
                <a:rPr lang="en-US" sz="1763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SNS 기반 정보 공유·후기 소비 활발</a:t>
              </a:r>
            </a:p>
            <a:p>
              <a:pPr algn="just">
                <a:lnSpc>
                  <a:spcPts val="2645"/>
                </a:lnSpc>
              </a:pPr>
              <a:r>
                <a:rPr lang="en-US" sz="1763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      </a:t>
              </a:r>
              <a:r>
                <a:rPr lang="en-US" sz="1763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동행 매칭 시장 가능성</a:t>
              </a:r>
            </a:p>
            <a:p>
              <a:pPr algn="just" marL="380820" indent="-190410" lvl="1">
                <a:lnSpc>
                  <a:spcPts val="2645"/>
                </a:lnSpc>
                <a:buFont typeface="Arial"/>
                <a:buChar char="•"/>
              </a:pPr>
              <a:r>
                <a:rPr lang="en-US" sz="1763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국내 온라인 동행 구하기 검색량 연간 30만 건 이상</a:t>
              </a:r>
            </a:p>
            <a:p>
              <a:pPr algn="just" marL="380820" indent="-190410" lvl="1">
                <a:lnSpc>
                  <a:spcPts val="2645"/>
                </a:lnSpc>
                <a:buFont typeface="Arial"/>
                <a:buChar char="•"/>
              </a:pPr>
              <a:r>
                <a:rPr lang="en-US" sz="1763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파티 매칭·소셜 여행 수요 꾸준히 증가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0" y="0"/>
              <a:ext cx="4477998" cy="968248"/>
              <a:chOff x="0" y="0"/>
              <a:chExt cx="884543" cy="19125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84543" cy="191259"/>
              </a:xfrm>
              <a:custGeom>
                <a:avLst/>
                <a:gdLst/>
                <a:ahLst/>
                <a:cxnLst/>
                <a:rect r="r" b="b" t="t" l="l"/>
                <a:pathLst>
                  <a:path h="191259" w="884543">
                    <a:moveTo>
                      <a:pt x="29967" y="0"/>
                    </a:moveTo>
                    <a:lnTo>
                      <a:pt x="854576" y="0"/>
                    </a:lnTo>
                    <a:cubicBezTo>
                      <a:pt x="871126" y="0"/>
                      <a:pt x="884543" y="13417"/>
                      <a:pt x="884543" y="29967"/>
                    </a:cubicBezTo>
                    <a:lnTo>
                      <a:pt x="884543" y="161292"/>
                    </a:lnTo>
                    <a:cubicBezTo>
                      <a:pt x="884543" y="169239"/>
                      <a:pt x="881386" y="176862"/>
                      <a:pt x="875766" y="182482"/>
                    </a:cubicBezTo>
                    <a:cubicBezTo>
                      <a:pt x="870146" y="188102"/>
                      <a:pt x="862523" y="191259"/>
                      <a:pt x="854576" y="191259"/>
                    </a:cubicBezTo>
                    <a:lnTo>
                      <a:pt x="29967" y="191259"/>
                    </a:lnTo>
                    <a:cubicBezTo>
                      <a:pt x="13417" y="191259"/>
                      <a:pt x="0" y="177842"/>
                      <a:pt x="0" y="161292"/>
                    </a:cubicBezTo>
                    <a:lnTo>
                      <a:pt x="0" y="29967"/>
                    </a:lnTo>
                    <a:cubicBezTo>
                      <a:pt x="0" y="13417"/>
                      <a:pt x="13417" y="0"/>
                      <a:pt x="29967" y="0"/>
                    </a:cubicBezTo>
                    <a:close/>
                  </a:path>
                </a:pathLst>
              </a:custGeom>
              <a:solidFill>
                <a:srgbClr val="8CB791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884543" cy="2484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20"/>
                  </a:lnSpc>
                </a:pPr>
                <a:r>
                  <a:rPr lang="en-US" sz="2800">
                    <a:solidFill>
                      <a:srgbClr val="FFFFFF"/>
                    </a:solidFill>
                    <a:latin typeface="Tlab 레트로라이프"/>
                    <a:ea typeface="Tlab 레트로라이프"/>
                    <a:cs typeface="Tlab 레트로라이프"/>
                    <a:sym typeface="Tlab 레트로라이프"/>
                  </a:rPr>
                  <a:t>목표시장 분석</a:t>
                </a:r>
              </a:p>
            </p:txBody>
          </p:sp>
        </p:grpSp>
      </p:grpSp>
      <p:sp>
        <p:nvSpPr>
          <p:cNvPr name="Freeform 27" id="27"/>
          <p:cNvSpPr/>
          <p:nvPr/>
        </p:nvSpPr>
        <p:spPr>
          <a:xfrm flipH="false" flipV="false" rot="0">
            <a:off x="1822669" y="3507927"/>
            <a:ext cx="6589018" cy="4818834"/>
          </a:xfrm>
          <a:custGeom>
            <a:avLst/>
            <a:gdLst/>
            <a:ahLst/>
            <a:cxnLst/>
            <a:rect r="r" b="b" t="t" l="l"/>
            <a:pathLst>
              <a:path h="4818834" w="6589018">
                <a:moveTo>
                  <a:pt x="0" y="0"/>
                </a:moveTo>
                <a:lnTo>
                  <a:pt x="6589018" y="0"/>
                </a:lnTo>
                <a:lnTo>
                  <a:pt x="6589018" y="4818834"/>
                </a:lnTo>
                <a:lnTo>
                  <a:pt x="0" y="48188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4239802" y="1410881"/>
            <a:ext cx="5718918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시장 분석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71105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066431" y="3507927"/>
            <a:ext cx="5267041" cy="4818834"/>
            <a:chOff x="0" y="0"/>
            <a:chExt cx="2091879" cy="19138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91879" cy="1913867"/>
            </a:xfrm>
            <a:custGeom>
              <a:avLst/>
              <a:gdLst/>
              <a:ahLst/>
              <a:cxnLst/>
              <a:rect r="r" b="b" t="t" l="l"/>
              <a:pathLst>
                <a:path h="1913867" w="2091879">
                  <a:moveTo>
                    <a:pt x="29398" y="0"/>
                  </a:moveTo>
                  <a:lnTo>
                    <a:pt x="2062482" y="0"/>
                  </a:lnTo>
                  <a:cubicBezTo>
                    <a:pt x="2070278" y="0"/>
                    <a:pt x="2077756" y="3097"/>
                    <a:pt x="2083269" y="8610"/>
                  </a:cubicBezTo>
                  <a:cubicBezTo>
                    <a:pt x="2088782" y="14123"/>
                    <a:pt x="2091879" y="21601"/>
                    <a:pt x="2091879" y="29398"/>
                  </a:cubicBezTo>
                  <a:lnTo>
                    <a:pt x="2091879" y="1884470"/>
                  </a:lnTo>
                  <a:cubicBezTo>
                    <a:pt x="2091879" y="1900706"/>
                    <a:pt x="2078717" y="1913867"/>
                    <a:pt x="2062482" y="1913867"/>
                  </a:cubicBezTo>
                  <a:lnTo>
                    <a:pt x="29398" y="1913867"/>
                  </a:lnTo>
                  <a:cubicBezTo>
                    <a:pt x="13162" y="1913867"/>
                    <a:pt x="0" y="1900706"/>
                    <a:pt x="0" y="1884470"/>
                  </a:cubicBezTo>
                  <a:lnTo>
                    <a:pt x="0" y="29398"/>
                  </a:lnTo>
                  <a:cubicBezTo>
                    <a:pt x="0" y="13162"/>
                    <a:pt x="13162" y="0"/>
                    <a:pt x="293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91879" cy="1951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066431" y="3507927"/>
            <a:ext cx="3358498" cy="726186"/>
            <a:chOff x="0" y="0"/>
            <a:chExt cx="884543" cy="19125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84543" cy="191259"/>
            </a:xfrm>
            <a:custGeom>
              <a:avLst/>
              <a:gdLst/>
              <a:ahLst/>
              <a:cxnLst/>
              <a:rect r="r" b="b" t="t" l="l"/>
              <a:pathLst>
                <a:path h="191259" w="884543">
                  <a:moveTo>
                    <a:pt x="29967" y="0"/>
                  </a:moveTo>
                  <a:lnTo>
                    <a:pt x="854576" y="0"/>
                  </a:lnTo>
                  <a:cubicBezTo>
                    <a:pt x="871126" y="0"/>
                    <a:pt x="884543" y="13417"/>
                    <a:pt x="884543" y="29967"/>
                  </a:cubicBezTo>
                  <a:lnTo>
                    <a:pt x="884543" y="161292"/>
                  </a:lnTo>
                  <a:cubicBezTo>
                    <a:pt x="884543" y="169239"/>
                    <a:pt x="881386" y="176862"/>
                    <a:pt x="875766" y="182482"/>
                  </a:cubicBezTo>
                  <a:cubicBezTo>
                    <a:pt x="870146" y="188102"/>
                    <a:pt x="862523" y="191259"/>
                    <a:pt x="854576" y="191259"/>
                  </a:cubicBezTo>
                  <a:lnTo>
                    <a:pt x="29967" y="191259"/>
                  </a:lnTo>
                  <a:cubicBezTo>
                    <a:pt x="13417" y="191259"/>
                    <a:pt x="0" y="177842"/>
                    <a:pt x="0" y="161292"/>
                  </a:cubicBezTo>
                  <a:lnTo>
                    <a:pt x="0" y="29967"/>
                  </a:lnTo>
                  <a:cubicBezTo>
                    <a:pt x="0" y="13417"/>
                    <a:pt x="13417" y="0"/>
                    <a:pt x="29967" y="0"/>
                  </a:cubicBezTo>
                  <a:close/>
                </a:path>
              </a:pathLst>
            </a:custGeom>
            <a:solidFill>
              <a:srgbClr val="A7BE8C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884543" cy="248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경쟁 분석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822669" y="3507927"/>
            <a:ext cx="4389681" cy="2419811"/>
          </a:xfrm>
          <a:custGeom>
            <a:avLst/>
            <a:gdLst/>
            <a:ahLst/>
            <a:cxnLst/>
            <a:rect r="r" b="b" t="t" l="l"/>
            <a:pathLst>
              <a:path h="2419811" w="4389681">
                <a:moveTo>
                  <a:pt x="0" y="0"/>
                </a:moveTo>
                <a:lnTo>
                  <a:pt x="4389681" y="0"/>
                </a:lnTo>
                <a:lnTo>
                  <a:pt x="4389681" y="2419811"/>
                </a:lnTo>
                <a:lnTo>
                  <a:pt x="0" y="24198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128576" y="5342206"/>
            <a:ext cx="2984555" cy="2984555"/>
          </a:xfrm>
          <a:custGeom>
            <a:avLst/>
            <a:gdLst/>
            <a:ahLst/>
            <a:cxnLst/>
            <a:rect r="r" b="b" t="t" l="l"/>
            <a:pathLst>
              <a:path h="2984555" w="2984555">
                <a:moveTo>
                  <a:pt x="0" y="0"/>
                </a:moveTo>
                <a:lnTo>
                  <a:pt x="2984555" y="0"/>
                </a:lnTo>
                <a:lnTo>
                  <a:pt x="2984555" y="2984555"/>
                </a:lnTo>
                <a:lnTo>
                  <a:pt x="0" y="29845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4239802" y="1410881"/>
            <a:ext cx="5718918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시장 분석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66431" y="4453872"/>
            <a:ext cx="5083696" cy="282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마이리얼트립, 트리플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일정 생성·</a:t>
            </a:r>
            <a:r>
              <a:rPr lang="en-US" sz="20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정보 제공 중심, 커뮤니티 기능 미흡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차별화 포인트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MBTI 기반 유저 매칭 플랫폼 제공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게이미피케이션 요소 결합 → 몰입감·재방문율 상승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24232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61718" y="2754923"/>
            <a:ext cx="7898423" cy="6503377"/>
          </a:xfrm>
          <a:custGeom>
            <a:avLst/>
            <a:gdLst/>
            <a:ahLst/>
            <a:cxnLst/>
            <a:rect r="r" b="b" t="t" l="l"/>
            <a:pathLst>
              <a:path h="6503377" w="7898423">
                <a:moveTo>
                  <a:pt x="0" y="0"/>
                </a:moveTo>
                <a:lnTo>
                  <a:pt x="7898423" y="0"/>
                </a:lnTo>
                <a:lnTo>
                  <a:pt x="7898423" y="6503377"/>
                </a:lnTo>
                <a:lnTo>
                  <a:pt x="0" y="65033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0065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239802" y="1410881"/>
            <a:ext cx="12617272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개발환경 및 시스템 아키텍처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02552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239802" y="1410881"/>
            <a:ext cx="12617272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시연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3734" y="4739654"/>
            <a:ext cx="16326741" cy="72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u="sng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  <a:hlinkClick r:id="rId6" tooltip="https://youtu.be/rU2IsWKw2qw"/>
              </a:rPr>
              <a:t>시연 동영상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02552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3196302" y="5286563"/>
            <a:ext cx="5107197" cy="3631177"/>
            <a:chOff x="0" y="0"/>
            <a:chExt cx="6809596" cy="484156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809596" cy="4841569"/>
              <a:chOff x="0" y="0"/>
              <a:chExt cx="1345105" cy="95635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345105" cy="956359"/>
              </a:xfrm>
              <a:custGeom>
                <a:avLst/>
                <a:gdLst/>
                <a:ahLst/>
                <a:cxnLst/>
                <a:rect r="r" b="b" t="t" l="l"/>
                <a:pathLst>
                  <a:path h="956359" w="1345105">
                    <a:moveTo>
                      <a:pt x="33349" y="0"/>
                    </a:moveTo>
                    <a:lnTo>
                      <a:pt x="1311756" y="0"/>
                    </a:lnTo>
                    <a:cubicBezTo>
                      <a:pt x="1330174" y="0"/>
                      <a:pt x="1345105" y="14931"/>
                      <a:pt x="1345105" y="33349"/>
                    </a:cubicBezTo>
                    <a:lnTo>
                      <a:pt x="1345105" y="923010"/>
                    </a:lnTo>
                    <a:cubicBezTo>
                      <a:pt x="1345105" y="941428"/>
                      <a:pt x="1330174" y="956359"/>
                      <a:pt x="1311756" y="956359"/>
                    </a:cubicBezTo>
                    <a:lnTo>
                      <a:pt x="33349" y="956359"/>
                    </a:lnTo>
                    <a:cubicBezTo>
                      <a:pt x="24505" y="956359"/>
                      <a:pt x="16022" y="952846"/>
                      <a:pt x="9768" y="946592"/>
                    </a:cubicBezTo>
                    <a:cubicBezTo>
                      <a:pt x="3514" y="940337"/>
                      <a:pt x="0" y="931855"/>
                      <a:pt x="0" y="923010"/>
                    </a:cubicBezTo>
                    <a:lnTo>
                      <a:pt x="0" y="33349"/>
                    </a:lnTo>
                    <a:cubicBezTo>
                      <a:pt x="0" y="14931"/>
                      <a:pt x="14931" y="0"/>
                      <a:pt x="333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85849"/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1345105" cy="10039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AutoShape 23" id="23"/>
            <p:cNvSpPr/>
            <p:nvPr/>
          </p:nvSpPr>
          <p:spPr>
            <a:xfrm>
              <a:off x="14907" y="1350878"/>
              <a:ext cx="6794688" cy="0"/>
            </a:xfrm>
            <a:prstGeom prst="line">
              <a:avLst/>
            </a:prstGeom>
            <a:ln cap="flat" w="25400">
              <a:solidFill>
                <a:srgbClr val="485849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945652" y="5286563"/>
            <a:ext cx="5146046" cy="3631177"/>
            <a:chOff x="0" y="0"/>
            <a:chExt cx="6861395" cy="4841569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861395" cy="4841569"/>
              <a:chOff x="0" y="0"/>
              <a:chExt cx="1355337" cy="95635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355337" cy="956359"/>
              </a:xfrm>
              <a:custGeom>
                <a:avLst/>
                <a:gdLst/>
                <a:ahLst/>
                <a:cxnLst/>
                <a:rect r="r" b="b" t="t" l="l"/>
                <a:pathLst>
                  <a:path h="956359" w="1355337">
                    <a:moveTo>
                      <a:pt x="33098" y="0"/>
                    </a:moveTo>
                    <a:lnTo>
                      <a:pt x="1322240" y="0"/>
                    </a:lnTo>
                    <a:cubicBezTo>
                      <a:pt x="1340519" y="0"/>
                      <a:pt x="1355337" y="14818"/>
                      <a:pt x="1355337" y="33098"/>
                    </a:cubicBezTo>
                    <a:lnTo>
                      <a:pt x="1355337" y="923262"/>
                    </a:lnTo>
                    <a:cubicBezTo>
                      <a:pt x="1355337" y="932040"/>
                      <a:pt x="1351850" y="940458"/>
                      <a:pt x="1345643" y="946665"/>
                    </a:cubicBezTo>
                    <a:cubicBezTo>
                      <a:pt x="1339436" y="952872"/>
                      <a:pt x="1331018" y="956359"/>
                      <a:pt x="1322240" y="956359"/>
                    </a:cubicBezTo>
                    <a:lnTo>
                      <a:pt x="33098" y="956359"/>
                    </a:lnTo>
                    <a:cubicBezTo>
                      <a:pt x="24320" y="956359"/>
                      <a:pt x="15901" y="952872"/>
                      <a:pt x="9694" y="946665"/>
                    </a:cubicBezTo>
                    <a:cubicBezTo>
                      <a:pt x="3487" y="940458"/>
                      <a:pt x="0" y="932040"/>
                      <a:pt x="0" y="923262"/>
                    </a:cubicBezTo>
                    <a:lnTo>
                      <a:pt x="0" y="33098"/>
                    </a:lnTo>
                    <a:cubicBezTo>
                      <a:pt x="0" y="24320"/>
                      <a:pt x="3487" y="15901"/>
                      <a:pt x="9694" y="9694"/>
                    </a:cubicBezTo>
                    <a:cubicBezTo>
                      <a:pt x="15901" y="3487"/>
                      <a:pt x="24320" y="0"/>
                      <a:pt x="330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85849"/>
                </a:soli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1355337" cy="10039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AutoShape 28" id="28"/>
            <p:cNvSpPr/>
            <p:nvPr/>
          </p:nvSpPr>
          <p:spPr>
            <a:xfrm>
              <a:off x="66707" y="1365767"/>
              <a:ext cx="6794688" cy="0"/>
            </a:xfrm>
            <a:prstGeom prst="line">
              <a:avLst/>
            </a:prstGeom>
            <a:ln cap="flat" w="25400">
              <a:solidFill>
                <a:srgbClr val="485849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4979029" y="3616969"/>
            <a:ext cx="1541743" cy="1545597"/>
          </a:xfrm>
          <a:custGeom>
            <a:avLst/>
            <a:gdLst/>
            <a:ahLst/>
            <a:cxnLst/>
            <a:rect r="r" b="b" t="t" l="l"/>
            <a:pathLst>
              <a:path h="1545597" w="1541743">
                <a:moveTo>
                  <a:pt x="0" y="0"/>
                </a:moveTo>
                <a:lnTo>
                  <a:pt x="1541742" y="0"/>
                </a:lnTo>
                <a:lnTo>
                  <a:pt x="1541742" y="1545597"/>
                </a:lnTo>
                <a:lnTo>
                  <a:pt x="0" y="15455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029998" y="3838664"/>
            <a:ext cx="2939222" cy="1102208"/>
          </a:xfrm>
          <a:custGeom>
            <a:avLst/>
            <a:gdLst/>
            <a:ahLst/>
            <a:cxnLst/>
            <a:rect r="r" b="b" t="t" l="l"/>
            <a:pathLst>
              <a:path h="1102208" w="2939222">
                <a:moveTo>
                  <a:pt x="0" y="0"/>
                </a:moveTo>
                <a:lnTo>
                  <a:pt x="2939222" y="0"/>
                </a:lnTo>
                <a:lnTo>
                  <a:pt x="2939222" y="1102208"/>
                </a:lnTo>
                <a:lnTo>
                  <a:pt x="0" y="11022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476510" y="3951583"/>
            <a:ext cx="1334980" cy="1334980"/>
          </a:xfrm>
          <a:custGeom>
            <a:avLst/>
            <a:gdLst/>
            <a:ahLst/>
            <a:cxnLst/>
            <a:rect r="r" b="b" t="t" l="l"/>
            <a:pathLst>
              <a:path h="1334980" w="1334980">
                <a:moveTo>
                  <a:pt x="0" y="0"/>
                </a:moveTo>
                <a:lnTo>
                  <a:pt x="1334980" y="0"/>
                </a:lnTo>
                <a:lnTo>
                  <a:pt x="1334980" y="1334980"/>
                </a:lnTo>
                <a:lnTo>
                  <a:pt x="0" y="13349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4239802" y="1410881"/>
            <a:ext cx="12617272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OAuth + OIDC 적용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05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54665" y="5554766"/>
            <a:ext cx="3289887" cy="52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628566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OpenID Connect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320643" y="6468145"/>
            <a:ext cx="4629717" cy="172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465"/>
              </a:lnSpc>
              <a:buFont typeface="Arial"/>
              <a:buChar char="•"/>
            </a:pPr>
            <a:r>
              <a:rPr lang="en-US" sz="21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권한 위임(Authorization) 프로토콜</a:t>
            </a:r>
          </a:p>
          <a:p>
            <a:pPr algn="l" marL="453390" indent="-226695" lvl="1">
              <a:lnSpc>
                <a:spcPts val="3465"/>
              </a:lnSpc>
              <a:buFont typeface="Arial"/>
              <a:buChar char="•"/>
            </a:pPr>
            <a:r>
              <a:rPr lang="en-US" sz="21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리소스</a:t>
            </a:r>
            <a:r>
              <a:rPr lang="en-US" sz="21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서버 접근을 위한 액세스 토큰 발급</a:t>
            </a:r>
          </a:p>
          <a:p>
            <a:pPr algn="l" marL="453390" indent="-226695" lvl="1">
              <a:lnSpc>
                <a:spcPts val="3465"/>
              </a:lnSpc>
              <a:buFont typeface="Arial"/>
              <a:buChar char="•"/>
            </a:pPr>
            <a:r>
              <a:rPr lang="en-US" sz="21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액세스 토큰, (선택) 리프레시 토큰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70352" y="6477670"/>
            <a:ext cx="4629717" cy="221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970"/>
              </a:lnSpc>
              <a:buFont typeface="Arial"/>
              <a:buChar char="•"/>
            </a:pPr>
            <a:r>
              <a:rPr lang="en-US" sz="18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OAuth 2.0에 인증(Authentication) 계층을 추가한 프로토콜</a:t>
            </a:r>
          </a:p>
          <a:p>
            <a:pPr algn="l" marL="388622" indent="-194311" lvl="1">
              <a:lnSpc>
                <a:spcPts val="2970"/>
              </a:lnSpc>
              <a:buFont typeface="Arial"/>
              <a:buChar char="•"/>
            </a:pPr>
            <a:r>
              <a:rPr lang="en-US" sz="18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사용자 신원</a:t>
            </a:r>
            <a:r>
              <a:rPr lang="en-US" sz="18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검증 및 ID 토큰을 통한 정보 제공</a:t>
            </a:r>
          </a:p>
          <a:p>
            <a:pPr algn="l" marL="388622" indent="-194311" lvl="1">
              <a:lnSpc>
                <a:spcPts val="2970"/>
              </a:lnSpc>
              <a:buFont typeface="Arial"/>
              <a:buChar char="•"/>
            </a:pPr>
            <a:r>
              <a:rPr lang="en-US" sz="18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액세스</a:t>
            </a:r>
            <a:r>
              <a:rPr lang="en-US" sz="18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토큰, (선택) 리프레시 토큰, ID 토큰(JWT)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539768" y="5554766"/>
            <a:ext cx="2420264" cy="52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628566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OAuth 2.0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02552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450249" y="3438823"/>
            <a:ext cx="8913709" cy="5303657"/>
          </a:xfrm>
          <a:custGeom>
            <a:avLst/>
            <a:gdLst/>
            <a:ahLst/>
            <a:cxnLst/>
            <a:rect r="r" b="b" t="t" l="l"/>
            <a:pathLst>
              <a:path h="5303657" w="8913709">
                <a:moveTo>
                  <a:pt x="0" y="0"/>
                </a:moveTo>
                <a:lnTo>
                  <a:pt x="8913709" y="0"/>
                </a:lnTo>
                <a:lnTo>
                  <a:pt x="8913709" y="5303657"/>
                </a:lnTo>
                <a:lnTo>
                  <a:pt x="0" y="53036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239802" y="1410881"/>
            <a:ext cx="12617272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채팅 서비스 구현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39802" y="2538006"/>
            <a:ext cx="9262734" cy="48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58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WEB SOCKET + STOMP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02552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846729" y="3300664"/>
            <a:ext cx="4524720" cy="4524720"/>
          </a:xfrm>
          <a:custGeom>
            <a:avLst/>
            <a:gdLst/>
            <a:ahLst/>
            <a:cxnLst/>
            <a:rect r="r" b="b" t="t" l="l"/>
            <a:pathLst>
              <a:path h="4524720" w="4524720">
                <a:moveTo>
                  <a:pt x="0" y="0"/>
                </a:moveTo>
                <a:lnTo>
                  <a:pt x="4524721" y="0"/>
                </a:lnTo>
                <a:lnTo>
                  <a:pt x="4524721" y="4524721"/>
                </a:lnTo>
                <a:lnTo>
                  <a:pt x="0" y="45247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20" id="20"/>
          <p:cNvSpPr/>
          <p:nvPr/>
        </p:nvSpPr>
        <p:spPr>
          <a:xfrm>
            <a:off x="8319308" y="5543974"/>
            <a:ext cx="1649384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1737758" y="3882119"/>
            <a:ext cx="3982453" cy="3361811"/>
          </a:xfrm>
          <a:custGeom>
            <a:avLst/>
            <a:gdLst/>
            <a:ahLst/>
            <a:cxnLst/>
            <a:rect r="r" b="b" t="t" l="l"/>
            <a:pathLst>
              <a:path h="3361811" w="3982453">
                <a:moveTo>
                  <a:pt x="0" y="0"/>
                </a:moveTo>
                <a:lnTo>
                  <a:pt x="3982453" y="0"/>
                </a:lnTo>
                <a:lnTo>
                  <a:pt x="3982453" y="3361811"/>
                </a:lnTo>
                <a:lnTo>
                  <a:pt x="0" y="33618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239802" y="1410881"/>
            <a:ext cx="12617272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채팅 서비스 구현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39802" y="2538006"/>
            <a:ext cx="9262734" cy="48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58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상태를 위한 REDIS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13491" y="7563143"/>
            <a:ext cx="4391197" cy="457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채팅 메세지마다 DB조회 발생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11910" y="7563143"/>
            <a:ext cx="3990803" cy="457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채팅방 단위의 접속 상태 관리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02552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2237053" y="5286563"/>
            <a:ext cx="7025694" cy="3631177"/>
            <a:chOff x="0" y="0"/>
            <a:chExt cx="9367592" cy="484156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9367592" cy="4841569"/>
              <a:chOff x="0" y="0"/>
              <a:chExt cx="1850389" cy="95635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850389" cy="956359"/>
              </a:xfrm>
              <a:custGeom>
                <a:avLst/>
                <a:gdLst/>
                <a:ahLst/>
                <a:cxnLst/>
                <a:rect r="r" b="b" t="t" l="l"/>
                <a:pathLst>
                  <a:path h="956359" w="1850389">
                    <a:moveTo>
                      <a:pt x="24243" y="0"/>
                    </a:moveTo>
                    <a:lnTo>
                      <a:pt x="1826146" y="0"/>
                    </a:lnTo>
                    <a:cubicBezTo>
                      <a:pt x="1832575" y="0"/>
                      <a:pt x="1838742" y="2554"/>
                      <a:pt x="1843288" y="7101"/>
                    </a:cubicBezTo>
                    <a:cubicBezTo>
                      <a:pt x="1847834" y="11647"/>
                      <a:pt x="1850389" y="17813"/>
                      <a:pt x="1850389" y="24243"/>
                    </a:cubicBezTo>
                    <a:lnTo>
                      <a:pt x="1850389" y="932117"/>
                    </a:lnTo>
                    <a:cubicBezTo>
                      <a:pt x="1850389" y="938546"/>
                      <a:pt x="1847834" y="944712"/>
                      <a:pt x="1843288" y="949259"/>
                    </a:cubicBezTo>
                    <a:cubicBezTo>
                      <a:pt x="1838742" y="953805"/>
                      <a:pt x="1832575" y="956359"/>
                      <a:pt x="1826146" y="956359"/>
                    </a:cubicBezTo>
                    <a:lnTo>
                      <a:pt x="24243" y="956359"/>
                    </a:lnTo>
                    <a:cubicBezTo>
                      <a:pt x="17813" y="956359"/>
                      <a:pt x="11647" y="953805"/>
                      <a:pt x="7101" y="949259"/>
                    </a:cubicBezTo>
                    <a:cubicBezTo>
                      <a:pt x="2554" y="944712"/>
                      <a:pt x="0" y="938546"/>
                      <a:pt x="0" y="932117"/>
                    </a:cubicBezTo>
                    <a:lnTo>
                      <a:pt x="0" y="24243"/>
                    </a:lnTo>
                    <a:cubicBezTo>
                      <a:pt x="0" y="17813"/>
                      <a:pt x="2554" y="11647"/>
                      <a:pt x="7101" y="7101"/>
                    </a:cubicBezTo>
                    <a:cubicBezTo>
                      <a:pt x="11647" y="2554"/>
                      <a:pt x="17813" y="0"/>
                      <a:pt x="24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85849"/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1850389" cy="10039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AutoShape 23" id="23"/>
            <p:cNvSpPr/>
            <p:nvPr/>
          </p:nvSpPr>
          <p:spPr>
            <a:xfrm>
              <a:off x="20507" y="1350878"/>
              <a:ext cx="9347084" cy="0"/>
            </a:xfrm>
            <a:prstGeom prst="line">
              <a:avLst/>
            </a:prstGeom>
            <a:ln cap="flat" w="25400">
              <a:solidFill>
                <a:srgbClr val="485849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4810345" y="3286069"/>
            <a:ext cx="1879111" cy="1879111"/>
          </a:xfrm>
          <a:custGeom>
            <a:avLst/>
            <a:gdLst/>
            <a:ahLst/>
            <a:cxnLst/>
            <a:rect r="r" b="b" t="t" l="l"/>
            <a:pathLst>
              <a:path h="1879111" w="1879111">
                <a:moveTo>
                  <a:pt x="0" y="0"/>
                </a:moveTo>
                <a:lnTo>
                  <a:pt x="1879110" y="0"/>
                </a:lnTo>
                <a:lnTo>
                  <a:pt x="1879110" y="1879111"/>
                </a:lnTo>
                <a:lnTo>
                  <a:pt x="0" y="18791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678869" y="5368608"/>
            <a:ext cx="6916881" cy="3467086"/>
          </a:xfrm>
          <a:custGeom>
            <a:avLst/>
            <a:gdLst/>
            <a:ahLst/>
            <a:cxnLst/>
            <a:rect r="r" b="b" t="t" l="l"/>
            <a:pathLst>
              <a:path h="3467086" w="6916881">
                <a:moveTo>
                  <a:pt x="0" y="0"/>
                </a:moveTo>
                <a:lnTo>
                  <a:pt x="6916881" y="0"/>
                </a:lnTo>
                <a:lnTo>
                  <a:pt x="6916881" y="3467087"/>
                </a:lnTo>
                <a:lnTo>
                  <a:pt x="0" y="3467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239802" y="1410881"/>
            <a:ext cx="12617272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동심원 배치 알고리즘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361395" y="6468145"/>
            <a:ext cx="6782605" cy="216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465"/>
              </a:lnSpc>
              <a:buFont typeface="Arial"/>
              <a:buChar char="•"/>
            </a:pPr>
            <a:r>
              <a:rPr lang="en-US" sz="21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여러 던전이 같은 대표 여행지를 갖는 경우, 마커가 겹쳐 클릭 불가 문제 발생</a:t>
            </a:r>
          </a:p>
          <a:p>
            <a:pPr algn="l" marL="453390" indent="-226695" lvl="1">
              <a:lnSpc>
                <a:spcPts val="3465"/>
              </a:lnSpc>
              <a:buFont typeface="Arial"/>
              <a:buChar char="•"/>
            </a:pPr>
            <a:r>
              <a:rPr lang="en-US" sz="21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해결: 각</a:t>
            </a:r>
            <a:r>
              <a:rPr lang="en-US" sz="21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마커를 기준 위치에서 동심원 형태로 분산 배치</a:t>
            </a:r>
          </a:p>
          <a:p>
            <a:pPr algn="l" marL="453390" indent="-226695" lvl="1">
              <a:lnSpc>
                <a:spcPts val="3465"/>
              </a:lnSpc>
              <a:buFont typeface="Arial"/>
              <a:buChar char="•"/>
            </a:pPr>
            <a:r>
              <a:rPr lang="en-US" sz="210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던전 수만큼 각도(θ)를 나누고, cos/sin을 이용해 위치 오프셋 계산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77622" y="5569012"/>
            <a:ext cx="574455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628566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Vue.js 지도 위 마커 동심원 배치</a:t>
            </a:r>
          </a:p>
          <a:p>
            <a:pPr algn="ctr">
              <a:lnSpc>
                <a:spcPts val="420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0" y="3777933"/>
            <a:ext cx="7663053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628566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💡 사용자 입장에서 모든 던전 마커를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628566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정확히 클릭 가능! (UX 개선)</a:t>
            </a:r>
          </a:p>
          <a:p>
            <a:pPr algn="ctr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239802" y="1410881"/>
            <a:ext cx="8986209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프로시저 &amp; 스케줄러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422660" y="3975519"/>
            <a:ext cx="5094176" cy="1541421"/>
            <a:chOff x="0" y="0"/>
            <a:chExt cx="2023224" cy="6121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23224" cy="612197"/>
            </a:xfrm>
            <a:custGeom>
              <a:avLst/>
              <a:gdLst/>
              <a:ahLst/>
              <a:cxnLst/>
              <a:rect r="r" b="b" t="t" l="l"/>
              <a:pathLst>
                <a:path h="612197" w="2023224">
                  <a:moveTo>
                    <a:pt x="30395" y="0"/>
                  </a:moveTo>
                  <a:lnTo>
                    <a:pt x="1992828" y="0"/>
                  </a:lnTo>
                  <a:cubicBezTo>
                    <a:pt x="2009615" y="0"/>
                    <a:pt x="2023224" y="13608"/>
                    <a:pt x="2023224" y="30395"/>
                  </a:cubicBezTo>
                  <a:lnTo>
                    <a:pt x="2023224" y="581802"/>
                  </a:lnTo>
                  <a:cubicBezTo>
                    <a:pt x="2023224" y="589863"/>
                    <a:pt x="2020021" y="597594"/>
                    <a:pt x="2014321" y="603294"/>
                  </a:cubicBezTo>
                  <a:cubicBezTo>
                    <a:pt x="2008621" y="608995"/>
                    <a:pt x="2000890" y="612197"/>
                    <a:pt x="1992828" y="612197"/>
                  </a:cubicBezTo>
                  <a:lnTo>
                    <a:pt x="30395" y="612197"/>
                  </a:lnTo>
                  <a:cubicBezTo>
                    <a:pt x="13608" y="612197"/>
                    <a:pt x="0" y="598589"/>
                    <a:pt x="0" y="581802"/>
                  </a:cubicBezTo>
                  <a:lnTo>
                    <a:pt x="0" y="30395"/>
                  </a:lnTo>
                  <a:cubicBezTo>
                    <a:pt x="0" y="13608"/>
                    <a:pt x="13608" y="0"/>
                    <a:pt x="303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23224" cy="650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659522" y="4806988"/>
            <a:ext cx="469494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485849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일련의 SQL 명령어들의 집합 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422660" y="3975519"/>
            <a:ext cx="3358498" cy="726186"/>
            <a:chOff x="0" y="0"/>
            <a:chExt cx="884543" cy="19125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84543" cy="191259"/>
            </a:xfrm>
            <a:custGeom>
              <a:avLst/>
              <a:gdLst/>
              <a:ahLst/>
              <a:cxnLst/>
              <a:rect r="r" b="b" t="t" l="l"/>
              <a:pathLst>
                <a:path h="191259" w="884543">
                  <a:moveTo>
                    <a:pt x="29967" y="0"/>
                  </a:moveTo>
                  <a:lnTo>
                    <a:pt x="854576" y="0"/>
                  </a:lnTo>
                  <a:cubicBezTo>
                    <a:pt x="871126" y="0"/>
                    <a:pt x="884543" y="13417"/>
                    <a:pt x="884543" y="29967"/>
                  </a:cubicBezTo>
                  <a:lnTo>
                    <a:pt x="884543" y="161292"/>
                  </a:lnTo>
                  <a:cubicBezTo>
                    <a:pt x="884543" y="169239"/>
                    <a:pt x="881386" y="176862"/>
                    <a:pt x="875766" y="182482"/>
                  </a:cubicBezTo>
                  <a:cubicBezTo>
                    <a:pt x="870146" y="188102"/>
                    <a:pt x="862523" y="191259"/>
                    <a:pt x="854576" y="191259"/>
                  </a:cubicBezTo>
                  <a:lnTo>
                    <a:pt x="29967" y="191259"/>
                  </a:lnTo>
                  <a:cubicBezTo>
                    <a:pt x="13417" y="191259"/>
                    <a:pt x="0" y="177842"/>
                    <a:pt x="0" y="161292"/>
                  </a:cubicBezTo>
                  <a:lnTo>
                    <a:pt x="0" y="29967"/>
                  </a:lnTo>
                  <a:cubicBezTo>
                    <a:pt x="0" y="13417"/>
                    <a:pt x="13417" y="0"/>
                    <a:pt x="29967" y="0"/>
                  </a:cubicBezTo>
                  <a:close/>
                </a:path>
              </a:pathLst>
            </a:custGeom>
            <a:solidFill>
              <a:srgbClr val="8CB791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884543" cy="248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프로시저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422660" y="6465881"/>
            <a:ext cx="5094176" cy="2121881"/>
            <a:chOff x="0" y="0"/>
            <a:chExt cx="2023224" cy="84273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23224" cy="842735"/>
            </a:xfrm>
            <a:custGeom>
              <a:avLst/>
              <a:gdLst/>
              <a:ahLst/>
              <a:cxnLst/>
              <a:rect r="r" b="b" t="t" l="l"/>
              <a:pathLst>
                <a:path h="842735" w="2023224">
                  <a:moveTo>
                    <a:pt x="30395" y="0"/>
                  </a:moveTo>
                  <a:lnTo>
                    <a:pt x="1992828" y="0"/>
                  </a:lnTo>
                  <a:cubicBezTo>
                    <a:pt x="2009615" y="0"/>
                    <a:pt x="2023224" y="13608"/>
                    <a:pt x="2023224" y="30395"/>
                  </a:cubicBezTo>
                  <a:lnTo>
                    <a:pt x="2023224" y="812339"/>
                  </a:lnTo>
                  <a:cubicBezTo>
                    <a:pt x="2023224" y="829126"/>
                    <a:pt x="2009615" y="842735"/>
                    <a:pt x="1992828" y="842735"/>
                  </a:cubicBezTo>
                  <a:lnTo>
                    <a:pt x="30395" y="842735"/>
                  </a:lnTo>
                  <a:cubicBezTo>
                    <a:pt x="13608" y="842735"/>
                    <a:pt x="0" y="829126"/>
                    <a:pt x="0" y="812339"/>
                  </a:cubicBezTo>
                  <a:lnTo>
                    <a:pt x="0" y="30395"/>
                  </a:lnTo>
                  <a:cubicBezTo>
                    <a:pt x="0" y="13608"/>
                    <a:pt x="13608" y="0"/>
                    <a:pt x="303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023224" cy="880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659522" y="7431571"/>
            <a:ext cx="4620453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485849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지정된 시간 간격이나 특정 시점에 자동으로 실행되어야 하는 작업 수행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2422660" y="6465881"/>
            <a:ext cx="3358498" cy="726186"/>
            <a:chOff x="0" y="0"/>
            <a:chExt cx="884543" cy="1912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84543" cy="191259"/>
            </a:xfrm>
            <a:custGeom>
              <a:avLst/>
              <a:gdLst/>
              <a:ahLst/>
              <a:cxnLst/>
              <a:rect r="r" b="b" t="t" l="l"/>
              <a:pathLst>
                <a:path h="191259" w="884543">
                  <a:moveTo>
                    <a:pt x="29967" y="0"/>
                  </a:moveTo>
                  <a:lnTo>
                    <a:pt x="854576" y="0"/>
                  </a:lnTo>
                  <a:cubicBezTo>
                    <a:pt x="871126" y="0"/>
                    <a:pt x="884543" y="13417"/>
                    <a:pt x="884543" y="29967"/>
                  </a:cubicBezTo>
                  <a:lnTo>
                    <a:pt x="884543" y="161292"/>
                  </a:lnTo>
                  <a:cubicBezTo>
                    <a:pt x="884543" y="169239"/>
                    <a:pt x="881386" y="176862"/>
                    <a:pt x="875766" y="182482"/>
                  </a:cubicBezTo>
                  <a:cubicBezTo>
                    <a:pt x="870146" y="188102"/>
                    <a:pt x="862523" y="191259"/>
                    <a:pt x="854576" y="191259"/>
                  </a:cubicBezTo>
                  <a:lnTo>
                    <a:pt x="29967" y="191259"/>
                  </a:lnTo>
                  <a:cubicBezTo>
                    <a:pt x="13417" y="191259"/>
                    <a:pt x="0" y="177842"/>
                    <a:pt x="0" y="161292"/>
                  </a:cubicBezTo>
                  <a:lnTo>
                    <a:pt x="0" y="29967"/>
                  </a:lnTo>
                  <a:cubicBezTo>
                    <a:pt x="0" y="13417"/>
                    <a:pt x="13417" y="0"/>
                    <a:pt x="29967" y="0"/>
                  </a:cubicBezTo>
                  <a:close/>
                </a:path>
              </a:pathLst>
            </a:custGeom>
            <a:solidFill>
              <a:srgbClr val="A7BE8C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884543" cy="248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스케줄러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732907" y="3975519"/>
            <a:ext cx="7605168" cy="4612242"/>
            <a:chOff x="0" y="0"/>
            <a:chExt cx="10140224" cy="6149656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0140224" cy="6149656"/>
              <a:chOff x="0" y="0"/>
              <a:chExt cx="1345105" cy="815755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345105" cy="815755"/>
              </a:xfrm>
              <a:custGeom>
                <a:avLst/>
                <a:gdLst/>
                <a:ahLst/>
                <a:cxnLst/>
                <a:rect r="r" b="b" t="t" l="l"/>
                <a:pathLst>
                  <a:path h="815755" w="1345105">
                    <a:moveTo>
                      <a:pt x="33349" y="0"/>
                    </a:moveTo>
                    <a:lnTo>
                      <a:pt x="1311756" y="0"/>
                    </a:lnTo>
                    <a:cubicBezTo>
                      <a:pt x="1330174" y="0"/>
                      <a:pt x="1345105" y="14931"/>
                      <a:pt x="1345105" y="33349"/>
                    </a:cubicBezTo>
                    <a:lnTo>
                      <a:pt x="1345105" y="782405"/>
                    </a:lnTo>
                    <a:cubicBezTo>
                      <a:pt x="1345105" y="791250"/>
                      <a:pt x="1341592" y="799733"/>
                      <a:pt x="1335338" y="805987"/>
                    </a:cubicBezTo>
                    <a:cubicBezTo>
                      <a:pt x="1329083" y="812241"/>
                      <a:pt x="1320601" y="815755"/>
                      <a:pt x="1311756" y="815755"/>
                    </a:cubicBezTo>
                    <a:lnTo>
                      <a:pt x="33349" y="815755"/>
                    </a:lnTo>
                    <a:cubicBezTo>
                      <a:pt x="14931" y="815755"/>
                      <a:pt x="0" y="800824"/>
                      <a:pt x="0" y="782405"/>
                    </a:cubicBezTo>
                    <a:lnTo>
                      <a:pt x="0" y="33349"/>
                    </a:lnTo>
                    <a:cubicBezTo>
                      <a:pt x="0" y="14931"/>
                      <a:pt x="14931" y="0"/>
                      <a:pt x="333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85849"/>
                </a:solidFill>
                <a:prstDash val="solid"/>
                <a:round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1345105" cy="8633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80"/>
                  </a:lnSpc>
                </a:pPr>
              </a:p>
            </p:txBody>
          </p:sp>
        </p:grpSp>
        <p:sp>
          <p:nvSpPr>
            <p:cNvPr name="AutoShape 39" id="39"/>
            <p:cNvSpPr/>
            <p:nvPr/>
          </p:nvSpPr>
          <p:spPr>
            <a:xfrm>
              <a:off x="22199" y="1715855"/>
              <a:ext cx="10118025" cy="0"/>
            </a:xfrm>
            <a:prstGeom prst="line">
              <a:avLst/>
            </a:prstGeom>
            <a:ln cap="flat" w="37823">
              <a:solidFill>
                <a:srgbClr val="485849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8837105" y="5530770"/>
            <a:ext cx="7396772" cy="248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2254" indent="-256127" lvl="1">
              <a:lnSpc>
                <a:spcPts val="3914"/>
              </a:lnSpc>
              <a:buFont typeface="Arial"/>
              <a:buChar char="•"/>
            </a:pPr>
            <a:r>
              <a:rPr lang="en-US" sz="2372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프로시저 기반 던전 생</a:t>
            </a:r>
            <a:r>
              <a:rPr lang="en-US" sz="2372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성 로직</a:t>
            </a:r>
          </a:p>
          <a:p>
            <a:pPr algn="l" marL="1024508" indent="-341503" lvl="2">
              <a:lnSpc>
                <a:spcPts val="3914"/>
              </a:lnSpc>
              <a:buFont typeface="Arial"/>
              <a:buChar char="⚬"/>
            </a:pPr>
            <a:r>
              <a:rPr lang="en-US" sz="2372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중복 방지 &amp; 난이도 자동화 → 데이터 일관성 향상</a:t>
            </a:r>
          </a:p>
          <a:p>
            <a:pPr algn="l" marL="512254" indent="-256127" lvl="1">
              <a:lnSpc>
                <a:spcPts val="3914"/>
              </a:lnSpc>
              <a:buFont typeface="Arial"/>
              <a:buChar char="•"/>
            </a:pPr>
            <a:r>
              <a:rPr lang="en-US" sz="2372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자동 던전 생성 스케줄링</a:t>
            </a:r>
          </a:p>
          <a:p>
            <a:pPr algn="l" marL="1071075" indent="-357025" lvl="2">
              <a:lnSpc>
                <a:spcPts val="4092"/>
              </a:lnSpc>
              <a:buFont typeface="Arial"/>
              <a:buChar char="⚬"/>
            </a:pPr>
            <a:r>
              <a:rPr lang="en-US" sz="248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관리자 개입 없이 (ex.매일) 지정된 개수의 무작위 던전 자동 생성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293431" y="4281208"/>
            <a:ext cx="448412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628566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자동 던전 생성 시스템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041627" y="1388861"/>
            <a:ext cx="11002036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생성형 AI 기반 데이터 생성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05</a:t>
            </a:r>
          </a:p>
        </p:txBody>
      </p:sp>
      <p:sp>
        <p:nvSpPr>
          <p:cNvPr name="AutoShape 21" id="21"/>
          <p:cNvSpPr/>
          <p:nvPr/>
        </p:nvSpPr>
        <p:spPr>
          <a:xfrm>
            <a:off x="980630" y="3841135"/>
            <a:ext cx="16278670" cy="0"/>
          </a:xfrm>
          <a:prstGeom prst="line">
            <a:avLst/>
          </a:prstGeom>
          <a:ln cap="flat" w="19050">
            <a:solidFill>
              <a:srgbClr val="48584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3485113" y="3399720"/>
            <a:ext cx="1005073" cy="863735"/>
            <a:chOff x="0" y="0"/>
            <a:chExt cx="812800" cy="698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85B38B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AFFFA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1차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V="true">
            <a:off x="3987650" y="4263455"/>
            <a:ext cx="0" cy="1221211"/>
          </a:xfrm>
          <a:prstGeom prst="line">
            <a:avLst/>
          </a:prstGeom>
          <a:ln cap="flat" w="28575">
            <a:solidFill>
              <a:srgbClr val="485849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2424919" y="4816457"/>
            <a:ext cx="2903178" cy="1701143"/>
            <a:chOff x="0" y="0"/>
            <a:chExt cx="762847" cy="44699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2847" cy="446997"/>
            </a:xfrm>
            <a:custGeom>
              <a:avLst/>
              <a:gdLst/>
              <a:ahLst/>
              <a:cxnLst/>
              <a:rect r="r" b="b" t="t" l="l"/>
              <a:pathLst>
                <a:path h="446997" w="762847">
                  <a:moveTo>
                    <a:pt x="32000" y="0"/>
                  </a:moveTo>
                  <a:lnTo>
                    <a:pt x="730847" y="0"/>
                  </a:lnTo>
                  <a:cubicBezTo>
                    <a:pt x="739334" y="0"/>
                    <a:pt x="747474" y="3371"/>
                    <a:pt x="753475" y="9373"/>
                  </a:cubicBezTo>
                  <a:cubicBezTo>
                    <a:pt x="759476" y="15374"/>
                    <a:pt x="762847" y="23513"/>
                    <a:pt x="762847" y="32000"/>
                  </a:cubicBezTo>
                  <a:lnTo>
                    <a:pt x="762847" y="414997"/>
                  </a:lnTo>
                  <a:cubicBezTo>
                    <a:pt x="762847" y="432670"/>
                    <a:pt x="748520" y="446997"/>
                    <a:pt x="730847" y="446997"/>
                  </a:cubicBezTo>
                  <a:lnTo>
                    <a:pt x="32000" y="446997"/>
                  </a:lnTo>
                  <a:cubicBezTo>
                    <a:pt x="23513" y="446997"/>
                    <a:pt x="15374" y="443626"/>
                    <a:pt x="9373" y="437625"/>
                  </a:cubicBezTo>
                  <a:cubicBezTo>
                    <a:pt x="3371" y="431623"/>
                    <a:pt x="0" y="423484"/>
                    <a:pt x="0" y="414997"/>
                  </a:cubicBezTo>
                  <a:lnTo>
                    <a:pt x="0" y="32000"/>
                  </a:lnTo>
                  <a:cubicBezTo>
                    <a:pt x="0" y="23513"/>
                    <a:pt x="3371" y="15374"/>
                    <a:pt x="9373" y="9373"/>
                  </a:cubicBezTo>
                  <a:cubicBezTo>
                    <a:pt x="15374" y="3371"/>
                    <a:pt x="23513" y="0"/>
                    <a:pt x="32000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62847" cy="50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Attraction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(여행지) List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424919" y="6927175"/>
            <a:ext cx="2903178" cy="1949739"/>
            <a:chOff x="0" y="0"/>
            <a:chExt cx="762847" cy="5123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2847" cy="512319"/>
            </a:xfrm>
            <a:custGeom>
              <a:avLst/>
              <a:gdLst/>
              <a:ahLst/>
              <a:cxnLst/>
              <a:rect r="r" b="b" t="t" l="l"/>
              <a:pathLst>
                <a:path h="512319" w="762847">
                  <a:moveTo>
                    <a:pt x="32000" y="0"/>
                  </a:moveTo>
                  <a:lnTo>
                    <a:pt x="730847" y="0"/>
                  </a:lnTo>
                  <a:cubicBezTo>
                    <a:pt x="739334" y="0"/>
                    <a:pt x="747474" y="3371"/>
                    <a:pt x="753475" y="9373"/>
                  </a:cubicBezTo>
                  <a:cubicBezTo>
                    <a:pt x="759476" y="15374"/>
                    <a:pt x="762847" y="23513"/>
                    <a:pt x="762847" y="32000"/>
                  </a:cubicBezTo>
                  <a:lnTo>
                    <a:pt x="762847" y="480319"/>
                  </a:lnTo>
                  <a:cubicBezTo>
                    <a:pt x="762847" y="488806"/>
                    <a:pt x="759476" y="496945"/>
                    <a:pt x="753475" y="502946"/>
                  </a:cubicBezTo>
                  <a:cubicBezTo>
                    <a:pt x="747474" y="508948"/>
                    <a:pt x="739334" y="512319"/>
                    <a:pt x="730847" y="512319"/>
                  </a:cubicBezTo>
                  <a:lnTo>
                    <a:pt x="32000" y="512319"/>
                  </a:lnTo>
                  <a:cubicBezTo>
                    <a:pt x="23513" y="512319"/>
                    <a:pt x="15374" y="508948"/>
                    <a:pt x="9373" y="502946"/>
                  </a:cubicBezTo>
                  <a:cubicBezTo>
                    <a:pt x="3371" y="496945"/>
                    <a:pt x="0" y="488806"/>
                    <a:pt x="0" y="480319"/>
                  </a:cubicBezTo>
                  <a:lnTo>
                    <a:pt x="0" y="32000"/>
                  </a:lnTo>
                  <a:cubicBezTo>
                    <a:pt x="0" y="23513"/>
                    <a:pt x="3371" y="15374"/>
                    <a:pt x="9373" y="9373"/>
                  </a:cubicBezTo>
                  <a:cubicBezTo>
                    <a:pt x="15374" y="3371"/>
                    <a:pt x="23513" y="0"/>
                    <a:pt x="320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762847" cy="588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485849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JSON 직렬화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985977" y="3399720"/>
            <a:ext cx="1005073" cy="863735"/>
            <a:chOff x="0" y="0"/>
            <a:chExt cx="812800" cy="698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A9B87D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A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2차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flipV="true">
            <a:off x="7524518" y="4263455"/>
            <a:ext cx="0" cy="1221211"/>
          </a:xfrm>
          <a:prstGeom prst="line">
            <a:avLst/>
          </a:prstGeom>
          <a:ln cap="flat" w="28575">
            <a:solidFill>
              <a:srgbClr val="485849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6011712" y="4816457"/>
            <a:ext cx="2900030" cy="1701143"/>
            <a:chOff x="0" y="0"/>
            <a:chExt cx="762020" cy="44699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62020" cy="446997"/>
            </a:xfrm>
            <a:custGeom>
              <a:avLst/>
              <a:gdLst/>
              <a:ahLst/>
              <a:cxnLst/>
              <a:rect r="r" b="b" t="t" l="l"/>
              <a:pathLst>
                <a:path h="446997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14962"/>
                  </a:lnTo>
                  <a:cubicBezTo>
                    <a:pt x="762020" y="432655"/>
                    <a:pt x="747678" y="446997"/>
                    <a:pt x="729985" y="446997"/>
                  </a:cubicBezTo>
                  <a:lnTo>
                    <a:pt x="32035" y="446997"/>
                  </a:lnTo>
                  <a:cubicBezTo>
                    <a:pt x="14343" y="446997"/>
                    <a:pt x="0" y="432655"/>
                    <a:pt x="0" y="414962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762020" cy="50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JSON 데이터 +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🧠 GPT Prompt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038499" y="6927175"/>
            <a:ext cx="2900030" cy="1949739"/>
            <a:chOff x="0" y="0"/>
            <a:chExt cx="762020" cy="51231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62020" cy="512319"/>
            </a:xfrm>
            <a:custGeom>
              <a:avLst/>
              <a:gdLst/>
              <a:ahLst/>
              <a:cxnLst/>
              <a:rect r="r" b="b" t="t" l="l"/>
              <a:pathLst>
                <a:path h="512319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80284"/>
                  </a:lnTo>
                  <a:cubicBezTo>
                    <a:pt x="762020" y="497977"/>
                    <a:pt x="747678" y="512319"/>
                    <a:pt x="729985" y="512319"/>
                  </a:cubicBezTo>
                  <a:lnTo>
                    <a:pt x="32035" y="512319"/>
                  </a:lnTo>
                  <a:cubicBezTo>
                    <a:pt x="14343" y="512319"/>
                    <a:pt x="0" y="497977"/>
                    <a:pt x="0" y="480284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76200"/>
              <a:ext cx="762020" cy="588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485849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응답 JSON 수신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 flipV="true">
            <a:off x="11015046" y="4205852"/>
            <a:ext cx="0" cy="1221211"/>
          </a:xfrm>
          <a:prstGeom prst="line">
            <a:avLst/>
          </a:prstGeom>
          <a:ln cap="flat" w="28575">
            <a:solidFill>
              <a:srgbClr val="485849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10486600" y="3399720"/>
            <a:ext cx="1005073" cy="863735"/>
            <a:chOff x="0" y="0"/>
            <a:chExt cx="812800" cy="6985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85B38B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A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3차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548580" y="4816457"/>
            <a:ext cx="2900030" cy="1701143"/>
            <a:chOff x="0" y="0"/>
            <a:chExt cx="762020" cy="44699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62020" cy="446997"/>
            </a:xfrm>
            <a:custGeom>
              <a:avLst/>
              <a:gdLst/>
              <a:ahLst/>
              <a:cxnLst/>
              <a:rect r="r" b="b" t="t" l="l"/>
              <a:pathLst>
                <a:path h="446997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14962"/>
                  </a:lnTo>
                  <a:cubicBezTo>
                    <a:pt x="762020" y="432655"/>
                    <a:pt x="747678" y="446997"/>
                    <a:pt x="729985" y="446997"/>
                  </a:cubicBezTo>
                  <a:lnTo>
                    <a:pt x="32035" y="446997"/>
                  </a:lnTo>
                  <a:cubicBezTo>
                    <a:pt x="14343" y="446997"/>
                    <a:pt x="0" y="432655"/>
                    <a:pt x="0" y="414962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762020" cy="50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JSON 데이터 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565031" y="6927175"/>
            <a:ext cx="2900030" cy="1949739"/>
            <a:chOff x="0" y="0"/>
            <a:chExt cx="762020" cy="51231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62020" cy="512319"/>
            </a:xfrm>
            <a:custGeom>
              <a:avLst/>
              <a:gdLst/>
              <a:ahLst/>
              <a:cxnLst/>
              <a:rect r="r" b="b" t="t" l="l"/>
              <a:pathLst>
                <a:path h="512319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80284"/>
                  </a:lnTo>
                  <a:cubicBezTo>
                    <a:pt x="762020" y="497977"/>
                    <a:pt x="747678" y="512319"/>
                    <a:pt x="729985" y="512319"/>
                  </a:cubicBezTo>
                  <a:lnTo>
                    <a:pt x="32035" y="512319"/>
                  </a:lnTo>
                  <a:cubicBezTo>
                    <a:pt x="14343" y="512319"/>
                    <a:pt x="0" y="497977"/>
                    <a:pt x="0" y="480284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76200"/>
              <a:ext cx="762020" cy="588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485849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QuestPrompt List로 역직렬화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038590" y="3399720"/>
            <a:ext cx="1005073" cy="863735"/>
            <a:chOff x="0" y="0"/>
            <a:chExt cx="812800" cy="6985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A9B87D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A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4차</a:t>
              </a:r>
            </a:p>
          </p:txBody>
        </p:sp>
      </p:grpSp>
      <p:sp>
        <p:nvSpPr>
          <p:cNvPr name="AutoShape 55" id="55"/>
          <p:cNvSpPr/>
          <p:nvPr/>
        </p:nvSpPr>
        <p:spPr>
          <a:xfrm flipV="true">
            <a:off x="14541127" y="4263455"/>
            <a:ext cx="0" cy="1221211"/>
          </a:xfrm>
          <a:prstGeom prst="line">
            <a:avLst/>
          </a:prstGeom>
          <a:ln cap="flat" w="28575">
            <a:solidFill>
              <a:srgbClr val="485849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13088949" y="4816457"/>
            <a:ext cx="2900030" cy="1701143"/>
            <a:chOff x="0" y="0"/>
            <a:chExt cx="762020" cy="44699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62020" cy="446997"/>
            </a:xfrm>
            <a:custGeom>
              <a:avLst/>
              <a:gdLst/>
              <a:ahLst/>
              <a:cxnLst/>
              <a:rect r="r" b="b" t="t" l="l"/>
              <a:pathLst>
                <a:path h="446997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14962"/>
                  </a:lnTo>
                  <a:cubicBezTo>
                    <a:pt x="762020" y="432655"/>
                    <a:pt x="747678" y="446997"/>
                    <a:pt x="729985" y="446997"/>
                  </a:cubicBezTo>
                  <a:lnTo>
                    <a:pt x="32035" y="446997"/>
                  </a:lnTo>
                  <a:cubicBezTo>
                    <a:pt x="14343" y="446997"/>
                    <a:pt x="0" y="432655"/>
                    <a:pt x="0" y="414962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762020" cy="50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QuestPrompt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검증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091112" y="6927175"/>
            <a:ext cx="2900030" cy="1949739"/>
            <a:chOff x="0" y="0"/>
            <a:chExt cx="762020" cy="51231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62020" cy="512319"/>
            </a:xfrm>
            <a:custGeom>
              <a:avLst/>
              <a:gdLst/>
              <a:ahLst/>
              <a:cxnLst/>
              <a:rect r="r" b="b" t="t" l="l"/>
              <a:pathLst>
                <a:path h="512319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80284"/>
                  </a:lnTo>
                  <a:cubicBezTo>
                    <a:pt x="762020" y="497977"/>
                    <a:pt x="747678" y="512319"/>
                    <a:pt x="729985" y="512319"/>
                  </a:cubicBezTo>
                  <a:lnTo>
                    <a:pt x="32035" y="512319"/>
                  </a:lnTo>
                  <a:cubicBezTo>
                    <a:pt x="14343" y="512319"/>
                    <a:pt x="0" y="497977"/>
                    <a:pt x="0" y="480284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76200"/>
              <a:ext cx="762020" cy="588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485849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DB에 Quest</a:t>
              </a:r>
            </a:p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485849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(퀘스트) 저장</a:t>
              </a:r>
            </a:p>
          </p:txBody>
        </p:sp>
      </p:grpSp>
      <p:sp>
        <p:nvSpPr>
          <p:cNvPr name="AutoShape 62" id="62"/>
          <p:cNvSpPr/>
          <p:nvPr/>
        </p:nvSpPr>
        <p:spPr>
          <a:xfrm flipH="true">
            <a:off x="3870789" y="6517600"/>
            <a:ext cx="5719" cy="534179"/>
          </a:xfrm>
          <a:prstGeom prst="line">
            <a:avLst/>
          </a:prstGeom>
          <a:ln cap="flat" w="38100">
            <a:solidFill>
              <a:srgbClr val="48584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3" id="63"/>
          <p:cNvSpPr/>
          <p:nvPr/>
        </p:nvSpPr>
        <p:spPr>
          <a:xfrm flipH="true">
            <a:off x="7543566" y="6517851"/>
            <a:ext cx="7885" cy="598675"/>
          </a:xfrm>
          <a:prstGeom prst="line">
            <a:avLst/>
          </a:prstGeom>
          <a:ln cap="flat" w="38100">
            <a:solidFill>
              <a:srgbClr val="48584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4" id="64"/>
          <p:cNvSpPr/>
          <p:nvPr/>
        </p:nvSpPr>
        <p:spPr>
          <a:xfrm flipH="true">
            <a:off x="10962204" y="6518102"/>
            <a:ext cx="7885" cy="598675"/>
          </a:xfrm>
          <a:prstGeom prst="line">
            <a:avLst/>
          </a:prstGeom>
          <a:ln cap="flat" w="38100">
            <a:solidFill>
              <a:srgbClr val="48584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5" id="65"/>
          <p:cNvSpPr/>
          <p:nvPr/>
        </p:nvSpPr>
        <p:spPr>
          <a:xfrm flipH="true">
            <a:off x="14558012" y="6518353"/>
            <a:ext cx="7885" cy="598675"/>
          </a:xfrm>
          <a:prstGeom prst="line">
            <a:avLst/>
          </a:prstGeom>
          <a:ln cap="flat" w="38100">
            <a:solidFill>
              <a:srgbClr val="485849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2992100" y="4038379"/>
            <a:ext cx="3775779" cy="973127"/>
            <a:chOff x="0" y="0"/>
            <a:chExt cx="5034372" cy="1297502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140471"/>
              <a:ext cx="4919290" cy="1157031"/>
              <a:chOff x="0" y="0"/>
              <a:chExt cx="971712" cy="22854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71712" cy="228549"/>
              </a:xfrm>
              <a:custGeom>
                <a:avLst/>
                <a:gdLst/>
                <a:ahLst/>
                <a:cxnLst/>
                <a:rect r="r" b="b" t="t" l="l"/>
                <a:pathLst>
                  <a:path h="228549" w="971712">
                    <a:moveTo>
                      <a:pt x="16787" y="0"/>
                    </a:moveTo>
                    <a:lnTo>
                      <a:pt x="954925" y="0"/>
                    </a:lnTo>
                    <a:cubicBezTo>
                      <a:pt x="964196" y="0"/>
                      <a:pt x="971712" y="7516"/>
                      <a:pt x="971712" y="16787"/>
                    </a:cubicBezTo>
                    <a:lnTo>
                      <a:pt x="971712" y="211762"/>
                    </a:lnTo>
                    <a:cubicBezTo>
                      <a:pt x="971712" y="216215"/>
                      <a:pt x="969943" y="220484"/>
                      <a:pt x="966795" y="223633"/>
                    </a:cubicBezTo>
                    <a:cubicBezTo>
                      <a:pt x="963647" y="226781"/>
                      <a:pt x="959377" y="228549"/>
                      <a:pt x="954925" y="228549"/>
                    </a:cubicBezTo>
                    <a:lnTo>
                      <a:pt x="16787" y="228549"/>
                    </a:lnTo>
                    <a:cubicBezTo>
                      <a:pt x="7516" y="228549"/>
                      <a:pt x="0" y="221034"/>
                      <a:pt x="0" y="211762"/>
                    </a:cubicBezTo>
                    <a:lnTo>
                      <a:pt x="0" y="16787"/>
                    </a:lnTo>
                    <a:cubicBezTo>
                      <a:pt x="0" y="7516"/>
                      <a:pt x="7516" y="0"/>
                      <a:pt x="167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971712" cy="2761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15082" y="0"/>
              <a:ext cx="4919290" cy="1157031"/>
              <a:chOff x="0" y="0"/>
              <a:chExt cx="971712" cy="228549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71712" cy="228549"/>
              </a:xfrm>
              <a:custGeom>
                <a:avLst/>
                <a:gdLst/>
                <a:ahLst/>
                <a:cxnLst/>
                <a:rect r="r" b="b" t="t" l="l"/>
                <a:pathLst>
                  <a:path h="228549" w="971712">
                    <a:moveTo>
                      <a:pt x="16787" y="0"/>
                    </a:moveTo>
                    <a:lnTo>
                      <a:pt x="954925" y="0"/>
                    </a:lnTo>
                    <a:cubicBezTo>
                      <a:pt x="964196" y="0"/>
                      <a:pt x="971712" y="7516"/>
                      <a:pt x="971712" y="16787"/>
                    </a:cubicBezTo>
                    <a:lnTo>
                      <a:pt x="971712" y="211762"/>
                    </a:lnTo>
                    <a:cubicBezTo>
                      <a:pt x="971712" y="216215"/>
                      <a:pt x="969943" y="220484"/>
                      <a:pt x="966795" y="223633"/>
                    </a:cubicBezTo>
                    <a:cubicBezTo>
                      <a:pt x="963647" y="226781"/>
                      <a:pt x="959377" y="228549"/>
                      <a:pt x="954925" y="228549"/>
                    </a:cubicBezTo>
                    <a:lnTo>
                      <a:pt x="16787" y="228549"/>
                    </a:lnTo>
                    <a:cubicBezTo>
                      <a:pt x="7516" y="228549"/>
                      <a:pt x="0" y="221034"/>
                      <a:pt x="0" y="211762"/>
                    </a:cubicBezTo>
                    <a:lnTo>
                      <a:pt x="0" y="16787"/>
                    </a:lnTo>
                    <a:cubicBezTo>
                      <a:pt x="0" y="7516"/>
                      <a:pt x="7516" y="0"/>
                      <a:pt x="16787" y="0"/>
                    </a:cubicBezTo>
                    <a:close/>
                  </a:path>
                </a:pathLst>
              </a:custGeom>
              <a:solidFill>
                <a:srgbClr val="B1CCB4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971712" cy="2761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0">
            <a:off x="3015536" y="7292705"/>
            <a:ext cx="3775779" cy="973127"/>
            <a:chOff x="0" y="0"/>
            <a:chExt cx="5034372" cy="1297502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140471"/>
              <a:ext cx="4919290" cy="1157031"/>
              <a:chOff x="0" y="0"/>
              <a:chExt cx="971712" cy="22854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71712" cy="228549"/>
              </a:xfrm>
              <a:custGeom>
                <a:avLst/>
                <a:gdLst/>
                <a:ahLst/>
                <a:cxnLst/>
                <a:rect r="r" b="b" t="t" l="l"/>
                <a:pathLst>
                  <a:path h="228549" w="971712">
                    <a:moveTo>
                      <a:pt x="16787" y="0"/>
                    </a:moveTo>
                    <a:lnTo>
                      <a:pt x="954925" y="0"/>
                    </a:lnTo>
                    <a:cubicBezTo>
                      <a:pt x="964196" y="0"/>
                      <a:pt x="971712" y="7516"/>
                      <a:pt x="971712" y="16787"/>
                    </a:cubicBezTo>
                    <a:lnTo>
                      <a:pt x="971712" y="211762"/>
                    </a:lnTo>
                    <a:cubicBezTo>
                      <a:pt x="971712" y="216215"/>
                      <a:pt x="969943" y="220484"/>
                      <a:pt x="966795" y="223633"/>
                    </a:cubicBezTo>
                    <a:cubicBezTo>
                      <a:pt x="963647" y="226781"/>
                      <a:pt x="959377" y="228549"/>
                      <a:pt x="954925" y="228549"/>
                    </a:cubicBezTo>
                    <a:lnTo>
                      <a:pt x="16787" y="228549"/>
                    </a:lnTo>
                    <a:cubicBezTo>
                      <a:pt x="7516" y="228549"/>
                      <a:pt x="0" y="221034"/>
                      <a:pt x="0" y="211762"/>
                    </a:cubicBezTo>
                    <a:lnTo>
                      <a:pt x="0" y="16787"/>
                    </a:lnTo>
                    <a:cubicBezTo>
                      <a:pt x="0" y="7516"/>
                      <a:pt x="7516" y="0"/>
                      <a:pt x="167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971712" cy="2761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15082" y="0"/>
              <a:ext cx="4919290" cy="1157031"/>
              <a:chOff x="0" y="0"/>
              <a:chExt cx="971712" cy="228549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71712" cy="228549"/>
              </a:xfrm>
              <a:custGeom>
                <a:avLst/>
                <a:gdLst/>
                <a:ahLst/>
                <a:cxnLst/>
                <a:rect r="r" b="b" t="t" l="l"/>
                <a:pathLst>
                  <a:path h="228549" w="971712">
                    <a:moveTo>
                      <a:pt x="16787" y="0"/>
                    </a:moveTo>
                    <a:lnTo>
                      <a:pt x="954925" y="0"/>
                    </a:lnTo>
                    <a:cubicBezTo>
                      <a:pt x="964196" y="0"/>
                      <a:pt x="971712" y="7516"/>
                      <a:pt x="971712" y="16787"/>
                    </a:cubicBezTo>
                    <a:lnTo>
                      <a:pt x="971712" y="211762"/>
                    </a:lnTo>
                    <a:cubicBezTo>
                      <a:pt x="971712" y="216215"/>
                      <a:pt x="969943" y="220484"/>
                      <a:pt x="966795" y="223633"/>
                    </a:cubicBezTo>
                    <a:cubicBezTo>
                      <a:pt x="963647" y="226781"/>
                      <a:pt x="959377" y="228549"/>
                      <a:pt x="954925" y="228549"/>
                    </a:cubicBezTo>
                    <a:lnTo>
                      <a:pt x="16787" y="228549"/>
                    </a:lnTo>
                    <a:cubicBezTo>
                      <a:pt x="7516" y="228549"/>
                      <a:pt x="0" y="221034"/>
                      <a:pt x="0" y="211762"/>
                    </a:cubicBezTo>
                    <a:lnTo>
                      <a:pt x="0" y="16787"/>
                    </a:lnTo>
                    <a:cubicBezTo>
                      <a:pt x="0" y="7516"/>
                      <a:pt x="7516" y="0"/>
                      <a:pt x="16787" y="0"/>
                    </a:cubicBezTo>
                    <a:close/>
                  </a:path>
                </a:pathLst>
              </a:custGeom>
              <a:solidFill>
                <a:srgbClr val="658C6A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971712" cy="2761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33" id="33"/>
          <p:cNvGrpSpPr/>
          <p:nvPr/>
        </p:nvGrpSpPr>
        <p:grpSpPr>
          <a:xfrm rot="0">
            <a:off x="2992100" y="5710556"/>
            <a:ext cx="3689468" cy="867774"/>
            <a:chOff x="0" y="0"/>
            <a:chExt cx="971712" cy="22854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1712" cy="228549"/>
            </a:xfrm>
            <a:custGeom>
              <a:avLst/>
              <a:gdLst/>
              <a:ahLst/>
              <a:cxnLst/>
              <a:rect r="r" b="b" t="t" l="l"/>
              <a:pathLst>
                <a:path h="228549" w="971712">
                  <a:moveTo>
                    <a:pt x="16787" y="0"/>
                  </a:moveTo>
                  <a:lnTo>
                    <a:pt x="954925" y="0"/>
                  </a:lnTo>
                  <a:cubicBezTo>
                    <a:pt x="964196" y="0"/>
                    <a:pt x="971712" y="7516"/>
                    <a:pt x="971712" y="16787"/>
                  </a:cubicBezTo>
                  <a:lnTo>
                    <a:pt x="971712" y="211762"/>
                  </a:lnTo>
                  <a:cubicBezTo>
                    <a:pt x="971712" y="216215"/>
                    <a:pt x="969943" y="220484"/>
                    <a:pt x="966795" y="223633"/>
                  </a:cubicBezTo>
                  <a:cubicBezTo>
                    <a:pt x="963647" y="226781"/>
                    <a:pt x="959377" y="228549"/>
                    <a:pt x="954925" y="228549"/>
                  </a:cubicBezTo>
                  <a:lnTo>
                    <a:pt x="16787" y="228549"/>
                  </a:lnTo>
                  <a:cubicBezTo>
                    <a:pt x="7516" y="228549"/>
                    <a:pt x="0" y="221034"/>
                    <a:pt x="0" y="211762"/>
                  </a:cubicBezTo>
                  <a:lnTo>
                    <a:pt x="0" y="16787"/>
                  </a:lnTo>
                  <a:cubicBezTo>
                    <a:pt x="0" y="7516"/>
                    <a:pt x="7516" y="0"/>
                    <a:pt x="1678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71712" cy="276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078411" y="5605203"/>
            <a:ext cx="3689468" cy="867774"/>
            <a:chOff x="0" y="0"/>
            <a:chExt cx="971712" cy="22854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71712" cy="228549"/>
            </a:xfrm>
            <a:custGeom>
              <a:avLst/>
              <a:gdLst/>
              <a:ahLst/>
              <a:cxnLst/>
              <a:rect r="r" b="b" t="t" l="l"/>
              <a:pathLst>
                <a:path h="228549" w="971712">
                  <a:moveTo>
                    <a:pt x="16787" y="0"/>
                  </a:moveTo>
                  <a:lnTo>
                    <a:pt x="954925" y="0"/>
                  </a:lnTo>
                  <a:cubicBezTo>
                    <a:pt x="964196" y="0"/>
                    <a:pt x="971712" y="7516"/>
                    <a:pt x="971712" y="16787"/>
                  </a:cubicBezTo>
                  <a:lnTo>
                    <a:pt x="971712" y="211762"/>
                  </a:lnTo>
                  <a:cubicBezTo>
                    <a:pt x="971712" y="216215"/>
                    <a:pt x="969943" y="220484"/>
                    <a:pt x="966795" y="223633"/>
                  </a:cubicBezTo>
                  <a:cubicBezTo>
                    <a:pt x="963647" y="226781"/>
                    <a:pt x="959377" y="228549"/>
                    <a:pt x="954925" y="228549"/>
                  </a:cubicBezTo>
                  <a:lnTo>
                    <a:pt x="16787" y="228549"/>
                  </a:lnTo>
                  <a:cubicBezTo>
                    <a:pt x="7516" y="228549"/>
                    <a:pt x="0" y="221034"/>
                    <a:pt x="0" y="211762"/>
                  </a:cubicBezTo>
                  <a:lnTo>
                    <a:pt x="0" y="16787"/>
                  </a:lnTo>
                  <a:cubicBezTo>
                    <a:pt x="0" y="7516"/>
                    <a:pt x="7516" y="0"/>
                    <a:pt x="16787" y="0"/>
                  </a:cubicBezTo>
                  <a:close/>
                </a:path>
              </a:pathLst>
            </a:custGeom>
            <a:solidFill>
              <a:srgbClr val="85B38B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971712" cy="276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217330" y="7397221"/>
            <a:ext cx="791408" cy="692122"/>
            <a:chOff x="0" y="0"/>
            <a:chExt cx="1055210" cy="9228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55210" cy="922829"/>
            </a:xfrm>
            <a:custGeom>
              <a:avLst/>
              <a:gdLst/>
              <a:ahLst/>
              <a:cxnLst/>
              <a:rect r="r" b="b" t="t" l="l"/>
              <a:pathLst>
                <a:path h="922829" w="1055210">
                  <a:moveTo>
                    <a:pt x="0" y="0"/>
                  </a:moveTo>
                  <a:lnTo>
                    <a:pt x="1055210" y="0"/>
                  </a:lnTo>
                  <a:lnTo>
                    <a:pt x="1055210" y="922829"/>
                  </a:lnTo>
                  <a:lnTo>
                    <a:pt x="0" y="92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55210" cy="922829"/>
            </a:xfrm>
            <a:custGeom>
              <a:avLst/>
              <a:gdLst/>
              <a:ahLst/>
              <a:cxnLst/>
              <a:rect r="r" b="b" t="t" l="l"/>
              <a:pathLst>
                <a:path h="922829" w="1055210">
                  <a:moveTo>
                    <a:pt x="0" y="0"/>
                  </a:moveTo>
                  <a:lnTo>
                    <a:pt x="1055210" y="0"/>
                  </a:lnTo>
                  <a:lnTo>
                    <a:pt x="1055210" y="922829"/>
                  </a:lnTo>
                  <a:lnTo>
                    <a:pt x="0" y="92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2" id="42"/>
          <p:cNvSpPr/>
          <p:nvPr/>
        </p:nvSpPr>
        <p:spPr>
          <a:xfrm flipH="false" flipV="false" rot="0">
            <a:off x="7160423" y="4130790"/>
            <a:ext cx="788305" cy="788305"/>
          </a:xfrm>
          <a:custGeom>
            <a:avLst/>
            <a:gdLst/>
            <a:ahLst/>
            <a:cxnLst/>
            <a:rect r="r" b="b" t="t" l="l"/>
            <a:pathLst>
              <a:path h="788305" w="788305">
                <a:moveTo>
                  <a:pt x="0" y="0"/>
                </a:moveTo>
                <a:lnTo>
                  <a:pt x="788305" y="0"/>
                </a:lnTo>
                <a:lnTo>
                  <a:pt x="788305" y="788305"/>
                </a:lnTo>
                <a:lnTo>
                  <a:pt x="0" y="7883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7205773" y="5710556"/>
            <a:ext cx="697606" cy="735026"/>
          </a:xfrm>
          <a:custGeom>
            <a:avLst/>
            <a:gdLst/>
            <a:ahLst/>
            <a:cxnLst/>
            <a:rect r="r" b="b" t="t" l="l"/>
            <a:pathLst>
              <a:path h="735026" w="697606">
                <a:moveTo>
                  <a:pt x="0" y="0"/>
                </a:moveTo>
                <a:lnTo>
                  <a:pt x="697606" y="0"/>
                </a:lnTo>
                <a:lnTo>
                  <a:pt x="697606" y="735025"/>
                </a:lnTo>
                <a:lnTo>
                  <a:pt x="0" y="7350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4239802" y="1410881"/>
            <a:ext cx="1065391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기대효과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351588" y="4185470"/>
            <a:ext cx="3164322" cy="48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일정 계획 시간 단축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241841" y="5769850"/>
            <a:ext cx="3439727" cy="48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몰입도 증가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813972" y="4114732"/>
            <a:ext cx="6728268" cy="3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알고리즘과 AI를 통해 생성된 여행지와 일정을 따라 여행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307836" y="7457518"/>
            <a:ext cx="3307736" cy="48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원스톱 여행 지원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790536" y="5688088"/>
            <a:ext cx="6505364" cy="772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게이미피케이션을 통해 일반적인 여행 매칭이 아닌 몰입도 있는 여행 경험 제공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790536" y="7316547"/>
            <a:ext cx="6232543" cy="772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여행지와 일정, 커뮤니케이션까지 원스톱으로 지원하여 편의성 제공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3448299" y="5400961"/>
            <a:ext cx="5107197" cy="3097319"/>
            <a:chOff x="0" y="0"/>
            <a:chExt cx="6809596" cy="4129758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809596" cy="4129758"/>
              <a:chOff x="0" y="0"/>
              <a:chExt cx="1345105" cy="81575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345105" cy="815755"/>
              </a:xfrm>
              <a:custGeom>
                <a:avLst/>
                <a:gdLst/>
                <a:ahLst/>
                <a:cxnLst/>
                <a:rect r="r" b="b" t="t" l="l"/>
                <a:pathLst>
                  <a:path h="815755" w="1345105">
                    <a:moveTo>
                      <a:pt x="33349" y="0"/>
                    </a:moveTo>
                    <a:lnTo>
                      <a:pt x="1311756" y="0"/>
                    </a:lnTo>
                    <a:cubicBezTo>
                      <a:pt x="1330174" y="0"/>
                      <a:pt x="1345105" y="14931"/>
                      <a:pt x="1345105" y="33349"/>
                    </a:cubicBezTo>
                    <a:lnTo>
                      <a:pt x="1345105" y="782405"/>
                    </a:lnTo>
                    <a:cubicBezTo>
                      <a:pt x="1345105" y="791250"/>
                      <a:pt x="1341592" y="799733"/>
                      <a:pt x="1335338" y="805987"/>
                    </a:cubicBezTo>
                    <a:cubicBezTo>
                      <a:pt x="1329083" y="812241"/>
                      <a:pt x="1320601" y="815755"/>
                      <a:pt x="1311756" y="815755"/>
                    </a:cubicBezTo>
                    <a:lnTo>
                      <a:pt x="33349" y="815755"/>
                    </a:lnTo>
                    <a:cubicBezTo>
                      <a:pt x="14931" y="815755"/>
                      <a:pt x="0" y="800824"/>
                      <a:pt x="0" y="782405"/>
                    </a:cubicBezTo>
                    <a:lnTo>
                      <a:pt x="0" y="33349"/>
                    </a:lnTo>
                    <a:cubicBezTo>
                      <a:pt x="0" y="14931"/>
                      <a:pt x="14931" y="0"/>
                      <a:pt x="333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85849"/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1345105" cy="8633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AutoShape 23" id="23"/>
            <p:cNvSpPr/>
            <p:nvPr/>
          </p:nvSpPr>
          <p:spPr>
            <a:xfrm>
              <a:off x="14907" y="1152271"/>
              <a:ext cx="6794688" cy="0"/>
            </a:xfrm>
            <a:prstGeom prst="line">
              <a:avLst/>
            </a:prstGeom>
            <a:ln cap="flat" w="25400">
              <a:solidFill>
                <a:srgbClr val="485849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198008" y="5400961"/>
            <a:ext cx="5146046" cy="3097319"/>
            <a:chOff x="0" y="0"/>
            <a:chExt cx="6861395" cy="4129758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861395" cy="4129758"/>
              <a:chOff x="0" y="0"/>
              <a:chExt cx="1355337" cy="81575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355337" cy="815755"/>
              </a:xfrm>
              <a:custGeom>
                <a:avLst/>
                <a:gdLst/>
                <a:ahLst/>
                <a:cxnLst/>
                <a:rect r="r" b="b" t="t" l="l"/>
                <a:pathLst>
                  <a:path h="815755" w="1355337">
                    <a:moveTo>
                      <a:pt x="33098" y="0"/>
                    </a:moveTo>
                    <a:lnTo>
                      <a:pt x="1322240" y="0"/>
                    </a:lnTo>
                    <a:cubicBezTo>
                      <a:pt x="1340519" y="0"/>
                      <a:pt x="1355337" y="14818"/>
                      <a:pt x="1355337" y="33098"/>
                    </a:cubicBezTo>
                    <a:lnTo>
                      <a:pt x="1355337" y="782657"/>
                    </a:lnTo>
                    <a:cubicBezTo>
                      <a:pt x="1355337" y="791435"/>
                      <a:pt x="1351850" y="799854"/>
                      <a:pt x="1345643" y="806061"/>
                    </a:cubicBezTo>
                    <a:cubicBezTo>
                      <a:pt x="1339436" y="812268"/>
                      <a:pt x="1331018" y="815755"/>
                      <a:pt x="1322240" y="815755"/>
                    </a:cubicBezTo>
                    <a:lnTo>
                      <a:pt x="33098" y="815755"/>
                    </a:lnTo>
                    <a:cubicBezTo>
                      <a:pt x="24320" y="815755"/>
                      <a:pt x="15901" y="812268"/>
                      <a:pt x="9694" y="806061"/>
                    </a:cubicBezTo>
                    <a:cubicBezTo>
                      <a:pt x="3487" y="799854"/>
                      <a:pt x="0" y="791435"/>
                      <a:pt x="0" y="782657"/>
                    </a:cubicBezTo>
                    <a:lnTo>
                      <a:pt x="0" y="33098"/>
                    </a:lnTo>
                    <a:cubicBezTo>
                      <a:pt x="0" y="24320"/>
                      <a:pt x="3487" y="15901"/>
                      <a:pt x="9694" y="9694"/>
                    </a:cubicBezTo>
                    <a:cubicBezTo>
                      <a:pt x="15901" y="3487"/>
                      <a:pt x="24320" y="0"/>
                      <a:pt x="330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85849"/>
                </a:soli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1355337" cy="8633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AutoShape 28" id="28"/>
            <p:cNvSpPr/>
            <p:nvPr/>
          </p:nvSpPr>
          <p:spPr>
            <a:xfrm>
              <a:off x="66707" y="1164971"/>
              <a:ext cx="6794688" cy="0"/>
            </a:xfrm>
            <a:prstGeom prst="line">
              <a:avLst/>
            </a:prstGeom>
            <a:ln cap="flat" w="25400">
              <a:solidFill>
                <a:srgbClr val="485849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4239802" y="1410881"/>
            <a:ext cx="1065391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개발 후기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07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585914" y="5535700"/>
            <a:ext cx="2420264" cy="52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628566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신승용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603597" y="6788074"/>
            <a:ext cx="4683734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재미있는 컨셉에 기능 설계 👍🏻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AI 활용 기능 구현할 수 있어서 만족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잠온다 (졸리다 X)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671851" y="6665836"/>
            <a:ext cx="4248390" cy="13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629"/>
              </a:lnSpc>
              <a:buFont typeface="Arial"/>
              <a:buChar char="•"/>
            </a:pPr>
            <a:r>
              <a:rPr lang="en-US" sz="21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1주일 간 해커톤하는 기분</a:t>
            </a:r>
          </a:p>
          <a:p>
            <a:pPr algn="l" marL="474979" indent="-237490" lvl="1">
              <a:lnSpc>
                <a:spcPts val="3629"/>
              </a:lnSpc>
              <a:buFont typeface="Arial"/>
              <a:buChar char="•"/>
            </a:pPr>
            <a:r>
              <a:rPr lang="en-US" sz="21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전반적인 WEB 개발 이해</a:t>
            </a:r>
          </a:p>
          <a:p>
            <a:pPr algn="l" marL="474979" indent="-237490" lvl="1">
              <a:lnSpc>
                <a:spcPts val="3629"/>
              </a:lnSpc>
              <a:buFont typeface="Arial"/>
              <a:buChar char="•"/>
            </a:pPr>
            <a:r>
              <a:rPr lang="en-US" sz="21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프로젝트 전 미리 복습해서 다행</a:t>
            </a:r>
            <a:r>
              <a:rPr lang="en-US" sz="21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791766" y="5535700"/>
            <a:ext cx="2420264" cy="52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628566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양준하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4758428" y="2754589"/>
            <a:ext cx="2486939" cy="2486939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19050" cap="sq">
              <a:solidFill>
                <a:srgbClr val="485849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1508137" y="2754923"/>
            <a:ext cx="2486939" cy="2486939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  <a:ln w="19050" cap="sq">
              <a:solidFill>
                <a:srgbClr val="485849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239802" y="1410881"/>
            <a:ext cx="1065391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질문과 답변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22669" y="989012"/>
            <a:ext cx="2048120" cy="17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08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373184" y="4834443"/>
            <a:ext cx="5541633" cy="1678286"/>
            <a:chOff x="0" y="0"/>
            <a:chExt cx="7388844" cy="22377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66813" cy="2237714"/>
            </a:xfrm>
            <a:custGeom>
              <a:avLst/>
              <a:gdLst/>
              <a:ahLst/>
              <a:cxnLst/>
              <a:rect r="r" b="b" t="t" l="l"/>
              <a:pathLst>
                <a:path h="2237714" w="2366813">
                  <a:moveTo>
                    <a:pt x="0" y="0"/>
                  </a:moveTo>
                  <a:lnTo>
                    <a:pt x="2366813" y="0"/>
                  </a:lnTo>
                  <a:lnTo>
                    <a:pt x="2366813" y="2237714"/>
                  </a:lnTo>
                  <a:lnTo>
                    <a:pt x="0" y="2237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4907508" y="0"/>
              <a:ext cx="2481336" cy="2237714"/>
            </a:xfrm>
            <a:custGeom>
              <a:avLst/>
              <a:gdLst/>
              <a:ahLst/>
              <a:cxnLst/>
              <a:rect r="r" b="b" t="t" l="l"/>
              <a:pathLst>
                <a:path h="2237714" w="2481336">
                  <a:moveTo>
                    <a:pt x="0" y="0"/>
                  </a:moveTo>
                  <a:lnTo>
                    <a:pt x="2481336" y="0"/>
                  </a:lnTo>
                  <a:lnTo>
                    <a:pt x="2481336" y="2237714"/>
                  </a:lnTo>
                  <a:lnTo>
                    <a:pt x="0" y="2237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757717" y="105251"/>
              <a:ext cx="1883324" cy="21324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31"/>
                </a:lnSpc>
              </a:pPr>
              <a:r>
                <a:rPr lang="en-US" sz="9522">
                  <a:solidFill>
                    <a:srgbClr val="485849">
                      <a:alpha val="73725"/>
                    </a:srgbClr>
                  </a:solidFill>
                  <a:latin typeface="TDTD한강고딕"/>
                  <a:ea typeface="TDTD한강고딕"/>
                  <a:cs typeface="TDTD한강고딕"/>
                  <a:sym typeface="TDTD한강고딕"/>
                </a:rPr>
                <a:t>&amp;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378252" y="5798541"/>
            <a:ext cx="3531496" cy="1508912"/>
          </a:xfrm>
          <a:custGeom>
            <a:avLst/>
            <a:gdLst/>
            <a:ahLst/>
            <a:cxnLst/>
            <a:rect r="r" b="b" t="t" l="l"/>
            <a:pathLst>
              <a:path h="1508912" w="3531496">
                <a:moveTo>
                  <a:pt x="0" y="0"/>
                </a:moveTo>
                <a:lnTo>
                  <a:pt x="3531496" y="0"/>
                </a:lnTo>
                <a:lnTo>
                  <a:pt x="3531496" y="1508912"/>
                </a:lnTo>
                <a:lnTo>
                  <a:pt x="0" y="15089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673298" y="3808171"/>
            <a:ext cx="6941403" cy="155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41"/>
              </a:lnSpc>
            </a:pPr>
            <a:r>
              <a:rPr lang="en-US" sz="9100">
                <a:solidFill>
                  <a:srgbClr val="8CB791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DAGonyP1kZM</dc:identifier>
  <dcterms:modified xsi:type="dcterms:W3CDTF">2011-08-01T06:04:30Z</dcterms:modified>
  <cp:revision>1</cp:revision>
  <dc:title>SSAFY 최종 관통 Travel Quest 발표자료</dc:title>
</cp:coreProperties>
</file>